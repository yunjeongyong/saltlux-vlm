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800000"/>
            <a:ext cx="1079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86E"/>
                </a:solidFill>
                <a:latin typeface="맑은 고딕"/>
              </a:rPr>
              <a:t>AI | 솔트룩스  ·  Document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160000"/>
            <a:ext cx="1079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1B1E"/>
                </a:solidFill>
                <a:latin typeface="맑은 고딕"/>
              </a:rPr>
              <a:t>VLM 문서파싱 학습 현황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200" b="0">
                <a:solidFill>
                  <a:srgbClr val="63686E"/>
                </a:solidFill>
                <a:latin typeface="맑은 고딕"/>
              </a:rPr>
              <a:t>학습 데이터 · 학습 결과 · 문제점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4860000"/>
            <a:ext cx="1079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86E"/>
                </a:solidFill>
                <a:latin typeface="맑은 고딕"/>
              </a:rPr>
              <a:t>2026. 09. 14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86E"/>
                </a:solidFill>
                <a:latin typeface="맑은 고딕"/>
              </a:rPr>
              <a:t>용윤정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현재 위치와 이번 주 핵심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000" y="1152000"/>
            <a:ext cx="3501333" cy="4031999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1152000"/>
            <a:ext cx="43200" cy="4031999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000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6B4A"/>
                </a:solidFill>
                <a:latin typeface="맑은 고딕"/>
              </a:rPr>
              <a:t>현재 배포 · 성능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000" y="1494000"/>
            <a:ext cx="3249334" cy="363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배포 모델 exp_004 (Qwen3.6-35B-A3B + LoRA)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SS 평가 400건 KIE 정확도 86.1%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(원본 베이스 대비 +1.3%p)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자체 평가셋 1,019건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CER 0.106 · TEDS 0.708 · 완전일치 64.2%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자체 지표 최고는 exp_011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TEDS 0.741로 1차 목표(0.739) 달성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SS 85.7%로 배포 후보 수준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5333" y="1152000"/>
            <a:ext cx="3501333" cy="4031999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5333" y="1152000"/>
            <a:ext cx="43200" cy="4031999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333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C5678"/>
                </a:solidFill>
                <a:latin typeface="맑은 고딕"/>
              </a:rPr>
              <a:t>이번 주 핵심 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333" y="1494000"/>
            <a:ext cx="3249334" cy="363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신규 도메인 투입판(exp_012·013)의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성능 급락(−8~11%p) 원인 규명 → 수정 완료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원인: 공개 데이터 FATURA2 4,000행 라벨 누락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평가 파이프라인 vLLM 엔진 전환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SS 400건 15시간 → 15분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→ 6개 실험 동일 조건 전수 재측정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학습 데이터 텍소노미 v1.1 구축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manifest 27종 · registry 60배치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0666" y="1152000"/>
            <a:ext cx="3501333" cy="4031999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0666" y="1152000"/>
            <a:ext cx="43200" cy="4031999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4666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지금 상태 · 이슈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4666" y="1494000"/>
            <a:ext cx="3249334" cy="363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수정본 exp_015 (9/10) · exp_014 (9/12)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학습 완료 — SS 평가 대기 중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구조적 문제 3가지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① 도메인 불균형: 견적서 학습 2.4% vs 평가 25%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② 프롬프트 편중: 72%가 지시문 1종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③ 라이선스: PubTabNet(NC) 5,461행 포함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• 사내 실문서 학습 자산 455장뿐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91B1E"/>
                </a:solidFill>
                <a:latin typeface="맑은 고딕"/>
              </a:rPr>
              <a:t>   → 별도 라벨링 필요 (판단 요청)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학습 데이터 — 무엇을 학습했나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다음 학습셋 exp_016 기준 40,852행 · 행 단위 전수 집계 (2026-09-10)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116000"/>
            <a:ext cx="45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출처별 구성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0000" y="1368000"/>
          <a:ext cx="4500000" cy="892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00000"/>
                <a:gridCol w="1000000"/>
                <a:gridCol w="1000000"/>
              </a:tblGrid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행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생성 (자체·선임 제공 생성기)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20,881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51.1%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public (공개 데이터셋)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18,886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46.2%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사내 실문서 (자체 라벨링)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1,085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2.7%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0000" y="2376000"/>
            <a:ext cx="45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• 사내 실문서 1,085행의 고유 이미지는 455장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   (90장 × 8회 프롬프트 반복 + 크롭 365장)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• 생성 데이터 중 서식 계열(9,916행)은 다양성 확보,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   영수증 계열(10,229행)은 4열 고정·어휘 105~173종으로 단조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8000" y="1116000"/>
            <a:ext cx="600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도메인별 구성 vs SS 평가 비중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8000" y="1368000"/>
          <a:ext cx="6003999" cy="146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12000"/>
                <a:gridCol w="1053333"/>
                <a:gridCol w="1053333"/>
                <a:gridCol w="1685333"/>
              </a:tblGrid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학습 행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학습 비중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SS 평가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영수증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17,170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42.0%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25%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무역·금융·행정 서식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8,916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21.8%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50% (계산서·명세서)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학술 표 (PubTabNet)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5,461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13.4%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공공행정 (AI-Hub)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4,480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11.0%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인보이스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3,825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9.4%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(계산서 일부)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견적 계열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2.4%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25%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8000" y="2916000"/>
            <a:ext cx="60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D3A27"/>
                </a:solidFill>
                <a:latin typeface="맑은 고딕"/>
              </a:rPr>
              <a:t>평가 비중 25%인 견적 계열이 학습에는 2.4%, 평가에 0건인 학술 표·공공행정이 24.4%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3564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실험별 학습셋 변천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00000" y="3816000"/>
          <a:ext cx="10791997" cy="104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49113"/>
                <a:gridCol w="2185721"/>
                <a:gridCol w="4781265"/>
                <a:gridCol w="1775898"/>
              </a:tblGrid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총 행수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핵심 변경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exp_004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11,173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크롭 892 · 실제 페이지 182 — 현 배포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배포 중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exp_009 / 010 / 011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86,256 / 9,898 / 30,195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영수증 크롭 증량·페이지 반복 조정 (exp_011 = 최적 조합)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exp_012 / 013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47,686 / 40,676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신규 도메인(명세서·계산서·인보이스) 10,491행 첫 투입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오염 → 폐기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exp_015 (clean) / 014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40,010 / 34,549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FATURA2 오염 수정판 / + PubTabNet 제외판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학습 완료 · 평가 대기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학습 결과 ① — 자체 평가셋 (1,019 크롭 · 사람 라벨 정답)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CER 0~1 유계 정의로 전 실험 통일 · 낮을수록 좋음 CER / 높을수록 좋음 TEDS·완전일치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0000" y="1152000"/>
          <a:ext cx="6839996" cy="21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18082"/>
                <a:gridCol w="843287"/>
                <a:gridCol w="843287"/>
                <a:gridCol w="1030684"/>
                <a:gridCol w="843287"/>
                <a:gridCol w="2061369"/>
              </a:tblGrid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CER ↓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TEDS ↑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완전일치 ↑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반복루프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학습 전 base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0.1378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0.6647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57.9%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Qwen3.6-35B-A3B 원본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exp_004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0.1063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0.7079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64.2%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현 배포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0.1081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0.6831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65.3%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온라인 증강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0.1177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0.6916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64.4%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합성 추가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exp_008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0.1305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0.6879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60.8%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베이스 27B 교체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0.1155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0.7476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63.5%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크롭 전량 + 페이지 44%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exp_010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0.1131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0.7335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63.7%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exp_009 경량판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exp_011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0.1091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0.7410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65.6%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최고 조합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1차 목표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≤ 0.097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≥ 0.739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≥ 67%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828000" y="1152000"/>
            <a:ext cx="3664000" cy="2160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28000" y="1152000"/>
            <a:ext cx="43200" cy="21600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2000" y="1242000"/>
            <a:ext cx="341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C5678"/>
                </a:solidFill>
                <a:latin typeface="맑은 고딕"/>
              </a:rPr>
              <a:t>실험으로 밝혀진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000" y="1494000"/>
            <a:ext cx="3412001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TEDS는 크롭이 만든다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크롭 892 → 12,000: 0.734 → 0.741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페이지 반복은 CER을 해친다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1회 0.106 → 24회 0.113 → 209회 0.116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반복루프는 exp_006 이후 소멸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exp_004만 7건 잔존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8000" y="3420000"/>
            <a:ext cx="3664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28000" y="3420000"/>
            <a:ext cx="43200" cy="1404000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2000" y="3510000"/>
            <a:ext cx="341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6B4A"/>
                </a:solidFill>
                <a:latin typeface="맑은 고딕"/>
              </a:rPr>
              <a:t>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2000" y="3762000"/>
            <a:ext cx="3412001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exp_011이 TEDS 목표 달성, CER·완전일치도 최상위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CER 목표(0.097)는 전 실험 미달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영수증 재배치로는 한계 (exp_009=010 동점)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학습 결과 ② — SS 평가셋 400건 (영수증·견적서·계산서·명세서 각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vLLM 엔진 경로 · KIE 추출기 동일 · 6개 실험 동일 조건 전수 측정 (2026-09-07)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0000" y="1152000"/>
          <a:ext cx="6299996" cy="133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08450"/>
                <a:gridCol w="887323"/>
                <a:gridCol w="1153521"/>
                <a:gridCol w="887323"/>
                <a:gridCol w="976056"/>
                <a:gridCol w="887323"/>
              </a:tblGrid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학습 행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지시-정답 오염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견적서 표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인보이스 표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SS total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91B1E"/>
                          </a:solidFill>
                          <a:latin typeface="맑은 고딕"/>
                        </a:rPr>
                        <a:t>exp_004 (현 배포)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11,173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95/100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100/100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</a:rPr>
                        <a:t>86.1%</a:t>
                      </a:r>
                    </a:p>
                  </a:txBody>
                  <a:tcPr marL="54000" marR="54000" marT="21600" marB="21600" anchor="ctr">
                    <a:solidFill>
                      <a:srgbClr val="EAF1EC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exp_011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30,195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98/100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100/100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</a:rPr>
                        <a:t>85.7%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exp_009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86,256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139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100/100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100/100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</a:rPr>
                        <a:t>85.6%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exp_012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47,686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4,139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71/100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57/100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77.3%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exp_013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91B1E"/>
                          </a:solidFill>
                          <a:latin typeface="맑은 고딕"/>
                        </a:rPr>
                        <a:t>40,676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4,139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47/100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37/100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D3A27"/>
                          </a:solidFill>
                          <a:latin typeface="맑은 고딕"/>
                        </a:rPr>
                        <a:t>74.7%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0000" y="2592000"/>
            <a:ext cx="63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5678"/>
                </a:solidFill>
                <a:latin typeface="맑은 고딕"/>
              </a:rPr>
              <a:t>학습량이 8배 차이나도 깨끗한 셋은 85.6~86.1% (0.5%p 폭) 에 모이고,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5678"/>
                </a:solidFill>
                <a:latin typeface="맑은 고딕"/>
              </a:rPr>
              <a:t>오염된 두 실험만 8~11%p 아래로 떨어짐 → 하락은 전부 데이터 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276000"/>
            <a:ext cx="63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카테고리별 (exp_004 기준 · 원본 대비)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0000" y="3528000"/>
          <a:ext cx="6300000" cy="100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5000"/>
                <a:gridCol w="1312500"/>
                <a:gridCol w="1312500"/>
                <a:gridCol w="2100000"/>
              </a:tblGrid>
              <a:tr h="2016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원본 베이스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exp_004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학습 효과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영수증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92.6%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93.5%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+0.9p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견적서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88.5%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90.4%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+1.9p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계산서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79.1%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81.1%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+2.0p (절대값 최저)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명세서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87.4%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86.8%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9D3A27"/>
                          </a:solidFill>
                          <a:latin typeface="맑은 고딕"/>
                        </a:rPr>
                        <a:t>−0.6p (유일한 하락)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288000" y="1152000"/>
            <a:ext cx="4204000" cy="1944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88000" y="1152000"/>
            <a:ext cx="43200" cy="19440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2000" y="1242000"/>
            <a:ext cx="395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C5678"/>
                </a:solidFill>
                <a:latin typeface="맑은 고딕"/>
              </a:rPr>
              <a:t>표 파싱 ↔ 답변 정확도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2000" y="1494000"/>
            <a:ext cx="3952001" cy="15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표 정확도와 SS 총점 상관 r = +0.998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exp_009→013 하락 −0.135 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Table 필드 −0.242, General −0.045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견적서 −0.330으로 붕괴, 영수증은 −0.014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8000" y="3204000"/>
            <a:ext cx="4204000" cy="1620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8000" y="3204000"/>
            <a:ext cx="43200" cy="1620000"/>
          </a:xfrm>
          <a:prstGeom prst="rect">
            <a:avLst/>
          </a:prstGeom>
          <a:solidFill>
            <a:srgbClr val="63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2000" y="3294000"/>
            <a:ext cx="395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86E"/>
                </a:solidFill>
                <a:latin typeface="맑은 고딕"/>
              </a:rPr>
              <a:t>KIE 추출기 교체 영향 (참고)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2000" y="3546000"/>
            <a:ext cx="3952001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gemma-4-31B → Qwen3.8: 86.5 → 85.6% (−0.9p)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머리말 필드 −1.7p, 표는 대등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데이터 차이(13.5p)의 1/15 → 결론 불변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문제점 ① — 학습셋 오염: 공개 데이터 FATURA2 4,000행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exp_012·013 성능 급락의 원인 · 규명 및 수정 완료 (2026-09-07)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000" y="1152000"/>
            <a:ext cx="3501333" cy="2268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1152000"/>
            <a:ext cx="43200" cy="2268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000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000" y="1494000"/>
            <a:ext cx="3249334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doc_parsing/invoice 4,491행 중 4,000행이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"표는 HTML &lt;table&gt;로 출력" 지시를 받고도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정답에 표가 없음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FATURA2는 필드추출(KIE)용 데이터셋 —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품목 표를 영역만 표시하고 내용 미기재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용도가 다른 데이터를 다른 용도로 쓴 것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한 파일에 두 공개셋이 같은 task명으로 섞여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학습셋 단계에서 안 보였음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5333" y="1152000"/>
            <a:ext cx="3501333" cy="2268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5333" y="1152000"/>
            <a:ext cx="43200" cy="2268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333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333" y="1494000"/>
            <a:ext cx="3249334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모델이 "표를 요구받아도 표 없이 답한다"를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4,000회 학습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견적서 표 출력 100/100 → 47/100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인보이스 표 출력 100/100 → 37/100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SS 400건 85.6% → 74.7% (−10.9%p)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표를 뱉은 272건은 85.5%로 정상 —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실력은 멀쩡, 표 누락 습관이 128건을 끌어내림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0666" y="1152000"/>
            <a:ext cx="3501333" cy="2268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0666" y="1152000"/>
            <a:ext cx="43200" cy="2268000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4666" y="1242000"/>
            <a:ext cx="324933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6B4A"/>
                </a:solidFill>
                <a:latin typeface="맑은 고딕"/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4666" y="1494000"/>
            <a:ext cx="3249334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빼지 않고 복원: exp_009로 표를 읽어 채우고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원본 SUB_TOTAL과 금액 합계로 검산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검산 통과 2,734 · 검산불가 600 유지 / 실패 666 제외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exp015_clean 40,010행 · 오염 4,139 → 139행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(139는 실제 표 없는 정상 케이스)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registry에 revoked 전이 → 재유입 시 자동 FAIL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재학습 완료 (9/10) · SS 평가 대기</a:t>
            </a:r>
          </a:p>
        </p:txBody>
      </p:sp>
      <p:pic>
        <p:nvPicPr>
          <p:cNvPr id="22" name="Picture 21" descr="08_parsing_to_answer_202609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3564000"/>
            <a:ext cx="4608000" cy="302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2000" y="3671999"/>
            <a:ext cx="604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91B1E"/>
                </a:solidFill>
                <a:latin typeface="맑은 고딕"/>
              </a:rPr>
              <a:t>재발 방지 (등록 절차 추가)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공개 데이터 도입 시 "원본 데이터셋의 과제 ↔ 우리 용도" 일치 확인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(라이선스만 보고 통과시키면 반복됨)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"지시문이 표를 요구하는데 정답에 &lt;tr&gt;이 없는 행" 자동 검사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— 이번 4,000행은 등록 단계에서 걸렸어야 함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사내 합성 데이터(std_hb 5,000 · CTG 3,916)는 전부 정상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문제점 ② — 학습 데이터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오염과 별개로 남아 있는 구조적 문제 4가지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000" y="1152000"/>
            <a:ext cx="5324000" cy="2232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0000" y="1152000"/>
            <a:ext cx="43200" cy="2232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000" y="1242000"/>
            <a:ext cx="50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1. 도메인 불균형 — 평가와 학습이 안 맞음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000" y="1494000"/>
            <a:ext cx="5072001" cy="18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견적서: SS 평가 25% ↔ 학습 2.4% (1,000행)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학술 표·공공행정: 평가 0% ↔ 학습 24.4%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명세서·계산서 실패 필드는 전부 "칸 안에 여러 줄로 접힌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긴 텍스트 블록" (address·purpose·route 등 80~99건)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견적 계열 public은 northwind 830건(Apache-2.0)이 유일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8000" y="1152000"/>
            <a:ext cx="5324000" cy="2232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8000" y="1152000"/>
            <a:ext cx="43200" cy="2232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2000" y="1242000"/>
            <a:ext cx="50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2. 프롬프트 편중 — 72%가 지시문 1종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2000" y="1494000"/>
            <a:ext cx="5072001" cy="18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doc_parsing 19개 유형 12,741행이 지시문 하나를 공유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그 문장이 SS 평가 프롬프트와 글자까지 동일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전체 21개 task · 28,627행이 프롬프트 1종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생성 데이터는 데이터셋당 지시문 1종 (45종 보유 중 미적용)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"이미지 그대로" 원칙 위반은 45종 전수 점검 결과 0건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문제는 지시문이 아니라 라벨 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491999"/>
            <a:ext cx="5324000" cy="2232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000" y="3491999"/>
            <a:ext cx="43200" cy="2232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000" y="3581999"/>
            <a:ext cx="50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3. 라이선스 — 상용 납품 차단 요소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000" y="3833999"/>
            <a:ext cx="5072001" cy="18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PubTabNet 5,461행 (CC BY-NC-SA) 이 exp_015·016 계보에 잔존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상용 모델에 쓰려면 제거 필요 (exp_014는 제외판)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대체: FinTabNet_OTSL (CDLA-Permissive) 3,000행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AI-Hub 2종·KorIE 2종 라이선스 unknown → GitLab 커밋 보류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AI-Hub 제3자 제공 제한 — 재배포 해당 여부 판단 요청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guard_license.py 통과를 릴리즈 조건으로 설정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8000" y="3491999"/>
            <a:ext cx="5324000" cy="2232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8000" y="3491999"/>
            <a:ext cx="43200" cy="2232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2000" y="3581999"/>
            <a:ext cx="50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4. 사내 실문서 부족 · 영수증 생성 포화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833999"/>
            <a:ext cx="5072001" cy="18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사내 실문서 학습 자산 고유 455장 (전체의 2.7%)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골든셋 100건은 평가 정답지 검증용 — 학습 투입 0행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영수증 생성 크롭 10,965행은 포화: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exp_009(34,391행) 0.8652 = exp_010(9,898행) 0.8684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SS 대상 증빙 서식(영수증·견적·계산·명세)은 공개 데이터에 없음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사내 실문서 라벨링이 근본 해법 (별건, 판단 요청)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문제점 ③ — 모델 출력 · 평가 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720000"/>
            <a:ext cx="107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686E"/>
                </a:solidFill>
                <a:latin typeface="맑은 고딕"/>
              </a:rPr>
              <a:t>SS 평가 불일치 3,017건 분해 및 관찰된 실패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116000"/>
            <a:ext cx="46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불일치 3,017건의 성격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0000" y="1368000"/>
          <a:ext cx="4679998" cy="10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37142"/>
                <a:gridCol w="668571"/>
                <a:gridCol w="2674285"/>
              </a:tblGrid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대응 방향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실제 글자 오독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47.6%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영수증 이미지 250~285px — 해상도·크롭 전략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필드 오배치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전사는 맞는데 자리가 틀림 — KIE/정규화 로직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정규화 차이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7.3%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2015-05-06 vs 2015/05/06 — 출력 정규화 로직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25.1%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8000" y="1152000"/>
            <a:ext cx="5824000" cy="2736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8000" y="1152000"/>
            <a:ext cx="43200" cy="2736000"/>
          </a:xfrm>
          <a:prstGeom prst="rect">
            <a:avLst/>
          </a:prstGeom>
          <a:solidFill>
            <a:srgbClr val="9D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2000" y="1242000"/>
            <a:ext cx="55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3A27"/>
                </a:solidFill>
                <a:latin typeface="맑은 고딕"/>
              </a:rPr>
              <a:t>관찰된 실패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2000" y="1494000"/>
            <a:ext cx="5572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원본 오타를 모델이 교정해버림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"P브로커리"(원본·정답) → "P 브로콜리"로 답변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"이미지 그대로 출력" 원칙 위반 — 프롬프트 개선안 7번이 겨냥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긴 표 중간 잘림 → max_len 16,384 확정 후 긴 표 1,200장 투입 예정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반복루프: exp_004(현 배포)만 7건 잔존, 이후 실험은 0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명세서·계산서: 여러 줄 접힌 긴 텍스트 블록 필드 집중 실패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2628000"/>
            <a:ext cx="468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2628000"/>
            <a:ext cx="43200" cy="12600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000" y="2718000"/>
            <a:ext cx="4428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C5678"/>
                </a:solidFill>
                <a:latin typeface="맑은 고딕"/>
              </a:rPr>
              <a:t>평가 인프라에서 발견·수정한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000" y="2970000"/>
            <a:ext cx="44280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평가 스크립트 bash 인자 버그(E="exp011}") → 세 실험 스킵 후 "완료" 출력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→ exp_011·012·013 점수가 비어 있던 원인. 수정 완료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합성 생성기 폰트 글리프 누락으로 빈 이미지 600여 건 → 전량 폐기·재생성, 폰트 자동 검증 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4031999"/>
            <a:ext cx="10792000" cy="936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4031999"/>
            <a:ext cx="43200" cy="936000"/>
          </a:xfrm>
          <a:prstGeom prst="rect">
            <a:avLst/>
          </a:prstGeom>
          <a:solidFill>
            <a:srgbClr val="63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" y="4121999"/>
            <a:ext cx="10540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86E"/>
                </a:solidFill>
                <a:latin typeface="맑은 고딕"/>
              </a:rPr>
              <a:t>SS 평가 방법 관련 미결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000" y="4373999"/>
            <a:ext cx="10540001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데이터셋마다 채점 방식이 다름(그래프 구조 일치 · cosine · 필드 타입별 차등) — registry에 "이 평가셋을 무엇으로 채점하는가" 기록 자리 없음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• 평가 데이터·방법 SS측 사전 협의 (랩장님 요청) 진행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8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98000"/>
            <a:ext cx="107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686E"/>
                </a:solidFill>
                <a:latin typeface="맑은 고딕"/>
              </a:rPr>
              <a:t>Document Studio VLM · 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60000"/>
            <a:ext cx="107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1B1E"/>
                </a:solidFill>
                <a:latin typeface="맑은 고딕"/>
              </a:rPr>
              <a:t>다음 — 진행 중 · 계획 · 판단 요청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954000"/>
            <a:ext cx="10792000" cy="9525"/>
          </a:xfrm>
          <a:prstGeom prst="rect">
            <a:avLst/>
          </a:prstGeom>
          <a:solidFill>
            <a:srgbClr val="DF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72000" y="6570000"/>
            <a:ext cx="7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6570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686E"/>
                </a:solidFill>
                <a:latin typeface="맑은 고딕"/>
              </a:rPr>
              <a:t>2026-09-14 · 용윤정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116000"/>
            <a:ext cx="55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진행 중 · 예정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0000" y="1368000"/>
          <a:ext cx="5579999" cy="1785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85714"/>
                <a:gridCol w="1594285"/>
              </a:tblGrid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exp_015 (오염 수정본) · exp_014 (PubTabNet 제외) SS 400 평가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학습 완료 → 이번 주 평가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exp_017 학습셋 재배분 (40,852 → 34,421행)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빌드 중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   영수증 생성 크롭 −6,000 · PubTabNet −5,461 · FinTabNet +3,000 · northwind +830 · 긴 표 +1,200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프롬프트 다양화 실험 (개선안 8종, 생성 데이터 지시문 다종 분산)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exp_015 결과 확인 후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한국어 축 공개 데이터 (ko-vdr 23,000행 표본 · KolmOCR 11,866쌍)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표본 200행 라벨 검수 후 투입량 확정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텍소노미 v1.1 GitLab push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승인 대기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학습 데이터 유형 정의 노션 정리 · SS측 평가 방법 협의 (랩장님 요청)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진행 예정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0000" y="3348000"/>
            <a:ext cx="55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1B1E"/>
                </a:solidFill>
                <a:latin typeface="맑은 고딕"/>
              </a:rPr>
              <a:t>재배분 후 구성비 (예상)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0000" y="3600000"/>
          <a:ext cx="5579998" cy="79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21818"/>
                <a:gridCol w="2029090"/>
                <a:gridCol w="2029090"/>
              </a:tblGrid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현재 exp_016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91B1E"/>
                          </a:solidFill>
                          <a:latin typeface="맑은 고딕"/>
                        </a:rPr>
                        <a:t>다음 exp_017</a:t>
                      </a:r>
                    </a:p>
                  </a:txBody>
                  <a:tcPr marL="54000" marR="54000" marT="21600" marB="21600" anchor="ctr">
                    <a:solidFill>
                      <a:srgbClr val="E4E6E9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생성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20,881 (51.1%)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16,081 (46.7%)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public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18,886 (46.2%)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17,255 (50.1%)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사내 실문서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1,085 (2.7%)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91B1E"/>
                          </a:solidFill>
                          <a:latin typeface="맑은 고딕"/>
                        </a:rPr>
                        <a:t>1,085 (3.2%)</a:t>
                      </a:r>
                    </a:p>
                  </a:txBody>
                  <a:tcPr marL="54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568000" y="1152000"/>
            <a:ext cx="4924000" cy="3528000"/>
          </a:xfrm>
          <a:prstGeom prst="rect">
            <a:avLst/>
          </a:prstGeom>
          <a:solidFill>
            <a:srgbClr val="FFFFFF"/>
          </a:solidFill>
          <a:ln>
            <a:solidFill>
              <a:srgbClr val="DF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8000" y="1152000"/>
            <a:ext cx="43200" cy="3528000"/>
          </a:xfrm>
          <a:prstGeom prst="rect">
            <a:avLst/>
          </a:prstGeom>
          <a:solidFill>
            <a:srgbClr val="2C5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2000" y="1242000"/>
            <a:ext cx="4672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C5678"/>
                </a:solidFill>
                <a:latin typeface="맑은 고딕"/>
              </a:rPr>
              <a:t>판단 요청 드리는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2000" y="1494000"/>
            <a:ext cx="4672001" cy="31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1. 사내 실문서 라벨링 착수 여부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현재 455장 → SS 증빙 서식은 공개 데이터로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대체 불가. 별도 인력·기간 필요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2. AI-Hub·KorIE 데이터 GitLab 업로드 가부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제3자 제공 제한 → 재배포 해당 여부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3. PubTabNet(NC) 제외 확정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   exp_014 결과로 성능 영향 확인 후 결정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91B1E"/>
                </a:solidFill>
                <a:latin typeface="맑은 고딕"/>
              </a:rPr>
              <a:t>4. registry DB 이관 시 커밋 해시 컬럼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