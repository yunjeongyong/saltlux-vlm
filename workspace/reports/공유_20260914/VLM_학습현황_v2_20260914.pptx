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672" r:id="rId5"/>
  </p:sldMasterIdLst>
  <p:notesMasterIdLst>
    <p:notesMasterId r:id="rId15"/>
  </p:notesMasterIdLst>
  <p:sldIdLst>
    <p:sldId id="2141412216" r:id="rId6"/>
    <p:sldId id="2141412230" r:id="rId7"/>
    <p:sldId id="2141412238" r:id="rId8"/>
    <p:sldId id="2141412223" r:id="rId9"/>
    <p:sldId id="2141412239" r:id="rId10"/>
    <p:sldId id="2141412235" r:id="rId11"/>
    <p:sldId id="2141412240" r:id="rId12"/>
    <p:sldId id="2141412236" r:id="rId13"/>
    <p:sldId id="2141412237" r:id="rId14"/>
    <p:sldId id="2141412241" r:id="rId22"/>
    <p:sldId id="2141412242" r:id="rId23"/>
    <p:sldId id="2141412243" r:id="rId24"/>
    <p:sldId id="2141412244" r:id="rId25"/>
    <p:sldId id="2141412245" r:id="rId26"/>
    <p:sldId id="2141412246" r:id="rId27"/>
    <p:sldId id="2141412247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9ED5"/>
    <a:srgbClr val="1A2429"/>
    <a:srgbClr val="2F7D8C"/>
    <a:srgbClr val="3A99AC"/>
    <a:srgbClr val="00369B"/>
    <a:srgbClr val="18213C"/>
    <a:srgbClr val="258BF1"/>
    <a:srgbClr val="EAF5FF"/>
    <a:srgbClr val="D74142"/>
    <a:srgbClr val="C9B7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92CB39-4506-4F52-B3B8-2C7CCF1D84B8}" v="14" dt="2026-08-27T21:28:00.7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  <Relationship Id="rId22" Type="http://schemas.openxmlformats.org/officeDocument/2006/relationships/slide" Target="slides/slide10.xml"/>
  <Relationship Id="rId23" Type="http://schemas.openxmlformats.org/officeDocument/2006/relationships/slide" Target="slides/slide11.xml"/>
  <Relationship Id="rId24" Type="http://schemas.openxmlformats.org/officeDocument/2006/relationships/slide" Target="slides/slide12.xml"/>
  <Relationship Id="rId25" Type="http://schemas.openxmlformats.org/officeDocument/2006/relationships/slide" Target="slides/slide13.xml"/>
  <Relationship Id="rId26" Type="http://schemas.openxmlformats.org/officeDocument/2006/relationships/slide" Target="slides/slide14.xml"/>
  <Relationship Id="rId27" Type="http://schemas.openxmlformats.org/officeDocument/2006/relationships/slide" Target="slides/slide15.xml"/>
  <Relationship Id="rId28" Type="http://schemas.openxmlformats.org/officeDocument/2006/relationships/slide" Target="slides/slide16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강한빛" userId="de9e65cc-e833-480e-8a8e-48307b4cba49" providerId="ADAL" clId="{66FA5B03-8582-42E7-8939-BB74D0B41E5F}"/>
    <pc:docChg chg="undo custSel modSld">
      <pc:chgData name="강한빛" userId="de9e65cc-e833-480e-8a8e-48307b4cba49" providerId="ADAL" clId="{66FA5B03-8582-42E7-8939-BB74D0B41E5F}" dt="2026-08-27T21:28:05.046" v="56" actId="113"/>
      <pc:docMkLst>
        <pc:docMk/>
      </pc:docMkLst>
      <pc:sldChg chg="modSp mod">
        <pc:chgData name="강한빛" userId="de9e65cc-e833-480e-8a8e-48307b4cba49" providerId="ADAL" clId="{66FA5B03-8582-42E7-8939-BB74D0B41E5F}" dt="2026-08-27T21:28:05.046" v="56" actId="113"/>
        <pc:sldMkLst>
          <pc:docMk/>
          <pc:sldMk cId="1247844100" sldId="2141412230"/>
        </pc:sldMkLst>
        <pc:graphicFrameChg chg="mod modGraphic">
          <ac:chgData name="강한빛" userId="de9e65cc-e833-480e-8a8e-48307b4cba49" providerId="ADAL" clId="{66FA5B03-8582-42E7-8939-BB74D0B41E5F}" dt="2026-08-27T21:28:05.046" v="56" actId="113"/>
          <ac:graphicFrameMkLst>
            <pc:docMk/>
            <pc:sldMk cId="1247844100" sldId="2141412230"/>
            <ac:graphicFrameMk id="3" creationId="{1DE739CD-381D-5951-5DD3-9CC26FAB050C}"/>
          </ac:graphicFrameMkLst>
        </pc:graphicFrameChg>
        <pc:graphicFrameChg chg="mod">
          <ac:chgData name="강한빛" userId="de9e65cc-e833-480e-8a8e-48307b4cba49" providerId="ADAL" clId="{66FA5B03-8582-42E7-8939-BB74D0B41E5F}" dt="2026-08-27T21:27:34.416" v="27"/>
          <ac:graphicFrameMkLst>
            <pc:docMk/>
            <pc:sldMk cId="1247844100" sldId="2141412230"/>
            <ac:graphicFrameMk id="6" creationId="{DA10AECB-9208-0B94-40E6-545525AF124C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D1511C-6041-0B40-862E-1AE1328DBA21}" type="datetimeFigureOut">
              <a:rPr kumimoji="1" lang="ko-KR" altLang="en-US" smtClean="0"/>
              <a:t>2026-08-28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4149A8-C695-8049-9412-A67B3A3FD54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64655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0ABDDC-5F4E-6AD7-4D01-AF67C7703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660BADE-77D3-91ED-6D2D-49C5791A76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936AD0-19AE-EC55-B16B-1FA4D0CF8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B43B8-F129-284A-8942-954448B82D12}" type="datetimeFigureOut">
              <a:rPr kumimoji="1" lang="ko-KR" altLang="en-US" smtClean="0"/>
              <a:t>2026-08-28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7B5249-6DFB-88D8-AE2D-1BF5D0974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6F83F6-B039-C903-1907-307D6226A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23BD-E480-4D40-9877-6128E069A2C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66305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57EB58-D396-3D84-E735-81B5A7AB4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9B15F1-87D0-16BB-384F-2258E1085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491F2D-864E-B014-43BC-06DDB1C0B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B43B8-F129-284A-8942-954448B82D12}" type="datetimeFigureOut">
              <a:rPr kumimoji="1" lang="ko-KR" altLang="en-US" smtClean="0"/>
              <a:t>2026-08-28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5539C4-27F6-E999-4358-4A44B4B52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FCAA68-3D3B-979B-25A0-FC47A3911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23BD-E480-4D40-9877-6128E069A2C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44831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5D4729-2637-E4A2-5432-B98789ADF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21F906E-22B1-54A0-8BAE-B3AA1FCEDB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A3D98E-8083-51F8-FD5C-DCA90EDC3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B43B8-F129-284A-8942-954448B82D12}" type="datetimeFigureOut">
              <a:rPr kumimoji="1" lang="ko-KR" altLang="en-US" smtClean="0"/>
              <a:t>2026-08-28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797147-DFA2-C8E7-2214-6800734A8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0D474A-6AE0-68C9-6524-B2A345712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23BD-E480-4D40-9877-6128E069A2C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80390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C96E6A-DA11-BE70-8ADD-E5BB40241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C68EF6-422E-8000-3254-06E0AC6049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FCE9ACC-AE0D-59D7-F8F6-18A9D7EA52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C3A9384-1456-D311-3F11-E71FE340B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B43B8-F129-284A-8942-954448B82D12}" type="datetimeFigureOut">
              <a:rPr kumimoji="1" lang="ko-KR" altLang="en-US" smtClean="0"/>
              <a:t>2026-08-28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5892CF-4BD4-E877-E632-8185A0DBC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1980F4B-DDF7-2193-91C0-8FE77DA6E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23BD-E480-4D40-9877-6128E069A2C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63335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483331-45FB-3F5F-7BC4-6B2F25E10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076A23-D852-E9DF-296E-BFEAD04FD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350551-E2F7-3943-98DB-6ED69C4CA7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049CB16-1512-F0A9-472A-69F528EBA7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2389D27-2F33-F3E3-50C9-6D0544453B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BE30872-844E-9088-D35A-C6F4DB942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B43B8-F129-284A-8942-954448B82D12}" type="datetimeFigureOut">
              <a:rPr kumimoji="1" lang="ko-KR" altLang="en-US" smtClean="0"/>
              <a:t>2026-08-28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CF3725C-99E3-EA41-987D-70A78006B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CCB4866-6F5C-4A4F-D9FF-452827D22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23BD-E480-4D40-9877-6128E069A2C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55458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08D661-5E6A-E580-A9DD-08C99D1D4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2065EF8-6C21-4739-9D8C-E9143F87B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B43B8-F129-284A-8942-954448B82D12}" type="datetimeFigureOut">
              <a:rPr kumimoji="1" lang="ko-KR" altLang="en-US" smtClean="0"/>
              <a:t>2026-08-28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00BF2BF-9F27-ADF1-6E70-29A7CE369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143BFE3-48B2-6DC8-43FC-405B91344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23BD-E480-4D40-9877-6128E069A2C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35584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5CB7D20-C5ED-432F-5C8D-0966A48EC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B43B8-F129-284A-8942-954448B82D12}" type="datetimeFigureOut">
              <a:rPr kumimoji="1" lang="ko-KR" altLang="en-US" smtClean="0"/>
              <a:t>2026-08-28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B419D33-A580-C95E-3CA9-8C4B6F3A9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1FFDAA-CF37-84A7-56D6-AE0908BB2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23BD-E480-4D40-9877-6128E069A2C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17155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C928CE-C34A-8DB9-50A9-591695703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62563B-BF3A-5FF6-BB9F-4C76379FF8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CF331FF-EE1C-B829-04FF-8762F8B289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7B41A2A-B736-212C-BD15-EB1CAECFB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B43B8-F129-284A-8942-954448B82D12}" type="datetimeFigureOut">
              <a:rPr kumimoji="1" lang="ko-KR" altLang="en-US" smtClean="0"/>
              <a:t>2026-08-28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B111BD-F130-BE1E-5BC5-46027DE0D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EAB1DE9-5F34-C6EE-B2CB-68AC0B902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23BD-E480-4D40-9877-6128E069A2C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21659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2C9358-76F1-A2FC-0929-329150619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75CED87-FCA2-D55F-5ACA-4DE66ACC55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D18F854-415B-93B6-0133-82FA38D984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C3D4634-CF25-600C-4F31-B263ABB5B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B43B8-F129-284A-8942-954448B82D12}" type="datetimeFigureOut">
              <a:rPr kumimoji="1" lang="ko-KR" altLang="en-US" smtClean="0"/>
              <a:t>2026-08-28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A0D8E2-ED8E-C990-DA82-AA06FBE01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8663BD-6624-2064-EC00-569EC3F0F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23BD-E480-4D40-9877-6128E069A2C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05389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A15486-A734-213A-9F4C-79BF19A38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9C17769-D162-B21C-4562-CEA5E55EB4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556D72-8DFA-CACF-FFC9-C85864D64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B43B8-F129-284A-8942-954448B82D12}" type="datetimeFigureOut">
              <a:rPr kumimoji="1" lang="ko-KR" altLang="en-US" smtClean="0"/>
              <a:t>2026-08-28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B89DE8-6113-F71D-6DF5-F94AB0F5D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31944-69C3-1508-C4D6-7052DA8DC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23BD-E480-4D40-9877-6128E069A2C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61971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7793991-19B5-36A8-1398-2E09717E76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7659E5F-BBE4-DDDC-4A4D-31A8E6135C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AA5D0E-F8AD-4D5C-030F-D1133ADF4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B43B8-F129-284A-8942-954448B82D12}" type="datetimeFigureOut">
              <a:rPr kumimoji="1" lang="ko-KR" altLang="en-US" smtClean="0"/>
              <a:t>2026-08-28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960FC8-E47F-9B96-8762-9EC0A5738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926F5C-1379-1667-4706-4F7AEE0B4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23BD-E480-4D40-9877-6128E069A2C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234103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E1698-DEF8-BA41-8F43-AA1C54762633}" type="datetimeFigureOut">
              <a:rPr kumimoji="1" lang="ko-KR" altLang="en-US" smtClean="0"/>
              <a:t>2026-08-28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EEBAD-2568-1B4A-85C5-1DB1123E060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7263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E1698-DEF8-BA41-8F43-AA1C54762633}" type="datetimeFigureOut">
              <a:rPr kumimoji="1" lang="ko-KR" altLang="en-US" smtClean="0"/>
              <a:t>2026-08-28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EEBAD-2568-1B4A-85C5-1DB1123E060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40551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E1698-DEF8-BA41-8F43-AA1C54762633}" type="datetimeFigureOut">
              <a:rPr kumimoji="1" lang="ko-KR" altLang="en-US" smtClean="0"/>
              <a:t>2026-08-28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EEBAD-2568-1B4A-85C5-1DB1123E060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13717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E1698-DEF8-BA41-8F43-AA1C54762633}" type="datetimeFigureOut">
              <a:rPr kumimoji="1" lang="ko-KR" altLang="en-US" smtClean="0"/>
              <a:t>2026-08-28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EEBAD-2568-1B4A-85C5-1DB1123E060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74515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E1698-DEF8-BA41-8F43-AA1C54762633}" type="datetimeFigureOut">
              <a:rPr kumimoji="1" lang="ko-KR" altLang="en-US" smtClean="0"/>
              <a:t>2026-08-28</a:t>
            </a:fld>
            <a:endParaRPr kumimoji="1"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EEBAD-2568-1B4A-85C5-1DB1123E060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47716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E1698-DEF8-BA41-8F43-AA1C54762633}" type="datetimeFigureOut">
              <a:rPr kumimoji="1" lang="ko-KR" altLang="en-US" smtClean="0"/>
              <a:t>2026-08-28</a:t>
            </a:fld>
            <a:endParaRPr kumimoji="1"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EEBAD-2568-1B4A-85C5-1DB1123E060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44349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E1698-DEF8-BA41-8F43-AA1C54762633}" type="datetimeFigureOut">
              <a:rPr kumimoji="1" lang="ko-KR" altLang="en-US" smtClean="0"/>
              <a:t>2026-08-28</a:t>
            </a:fld>
            <a:endParaRPr kumimoji="1"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EEBAD-2568-1B4A-85C5-1DB1123E060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94815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E1698-DEF8-BA41-8F43-AA1C54762633}" type="datetimeFigureOut">
              <a:rPr kumimoji="1" lang="ko-KR" altLang="en-US" smtClean="0"/>
              <a:t>2026-08-28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EEBAD-2568-1B4A-85C5-1DB1123E060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68041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E1698-DEF8-BA41-8F43-AA1C54762633}" type="datetimeFigureOut">
              <a:rPr kumimoji="1" lang="ko-KR" altLang="en-US" smtClean="0"/>
              <a:t>2026-08-28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EEBAD-2568-1B4A-85C5-1DB1123E060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32980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E1698-DEF8-BA41-8F43-AA1C54762633}" type="datetimeFigureOut">
              <a:rPr kumimoji="1" lang="ko-KR" altLang="en-US" smtClean="0"/>
              <a:t>2026-08-28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EEBAD-2568-1B4A-85C5-1DB1123E060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22089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E1698-DEF8-BA41-8F43-AA1C54762633}" type="datetimeFigureOut">
              <a:rPr kumimoji="1" lang="ko-KR" altLang="en-US" smtClean="0"/>
              <a:t>2026-08-28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EEBAD-2568-1B4A-85C5-1DB1123E060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0666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섹션-솔트룩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B1B0AEDD-C46E-B1F0-9B26-ADFAA8FD21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17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347">
          <p15:clr>
            <a:srgbClr val="FBAE40"/>
          </p15:clr>
        </p15:guide>
        <p15:guide id="3" pos="7333">
          <p15:clr>
            <a:srgbClr val="FBAE40"/>
          </p15:clr>
        </p15:guide>
        <p15:guide id="4" orient="horz" pos="73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-W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484F8D70-A5E3-EA72-1672-0A2D66337DCC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942E405C-96AD-3FD1-3524-1B03D7DA0E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8" name="자유형 7">
              <a:extLst>
                <a:ext uri="{FF2B5EF4-FFF2-40B4-BE49-F238E27FC236}">
                  <a16:creationId xmlns:a16="http://schemas.microsoft.com/office/drawing/2014/main" id="{903A320D-BB2A-50A1-048E-D047F42A4CD5}"/>
                </a:ext>
              </a:extLst>
            </p:cNvPr>
            <p:cNvSpPr>
              <a:spLocks/>
            </p:cNvSpPr>
            <p:nvPr/>
          </p:nvSpPr>
          <p:spPr bwMode="auto">
            <a:xfrm rot="10800000" flipV="1">
              <a:off x="0" y="1"/>
              <a:ext cx="12192000" cy="347222"/>
            </a:xfrm>
            <a:custGeom>
              <a:avLst/>
              <a:gdLst>
                <a:gd name="connsiteX0" fmla="*/ 12192000 w 12192000"/>
                <a:gd name="connsiteY0" fmla="*/ 0 h 347222"/>
                <a:gd name="connsiteX1" fmla="*/ 0 w 12192000"/>
                <a:gd name="connsiteY1" fmla="*/ 0 h 347222"/>
                <a:gd name="connsiteX2" fmla="*/ 0 w 12192000"/>
                <a:gd name="connsiteY2" fmla="*/ 93306 h 347222"/>
                <a:gd name="connsiteX3" fmla="*/ 0 w 12192000"/>
                <a:gd name="connsiteY3" fmla="*/ 347222 h 347222"/>
                <a:gd name="connsiteX4" fmla="*/ 88199 w 12192000"/>
                <a:gd name="connsiteY4" fmla="*/ 347222 h 347222"/>
                <a:gd name="connsiteX5" fmla="*/ 130669 w 12192000"/>
                <a:gd name="connsiteY5" fmla="*/ 347222 h 347222"/>
                <a:gd name="connsiteX6" fmla="*/ 264296 w 12192000"/>
                <a:gd name="connsiteY6" fmla="*/ 347222 h 347222"/>
                <a:gd name="connsiteX7" fmla="*/ 336382 w 12192000"/>
                <a:gd name="connsiteY7" fmla="*/ 347222 h 347222"/>
                <a:gd name="connsiteX8" fmla="*/ 490971 w 12192000"/>
                <a:gd name="connsiteY8" fmla="*/ 347222 h 347222"/>
                <a:gd name="connsiteX9" fmla="*/ 541527 w 12192000"/>
                <a:gd name="connsiteY9" fmla="*/ 347222 h 347222"/>
                <a:gd name="connsiteX10" fmla="*/ 675991 w 12192000"/>
                <a:gd name="connsiteY10" fmla="*/ 347222 h 347222"/>
                <a:gd name="connsiteX11" fmla="*/ 744156 w 12192000"/>
                <a:gd name="connsiteY11" fmla="*/ 347222 h 347222"/>
                <a:gd name="connsiteX12" fmla="*/ 749861 w 12192000"/>
                <a:gd name="connsiteY12" fmla="*/ 347222 h 347222"/>
                <a:gd name="connsiteX13" fmla="*/ 753894 w 12192000"/>
                <a:gd name="connsiteY13" fmla="*/ 347222 h 347222"/>
                <a:gd name="connsiteX14" fmla="*/ 899139 w 12192000"/>
                <a:gd name="connsiteY14" fmla="*/ 347222 h 347222"/>
                <a:gd name="connsiteX15" fmla="*/ 1104192 w 12192000"/>
                <a:gd name="connsiteY15" fmla="*/ 347222 h 347222"/>
                <a:gd name="connsiteX16" fmla="*/ 1359538 w 12192000"/>
                <a:gd name="connsiteY16" fmla="*/ 275808 h 347222"/>
                <a:gd name="connsiteX17" fmla="*/ 1670936 w 12192000"/>
                <a:gd name="connsiteY17" fmla="*/ 93306 h 347222"/>
                <a:gd name="connsiteX18" fmla="*/ 12192000 w 12192000"/>
                <a:gd name="connsiteY18" fmla="*/ 93306 h 347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92000" h="347222">
                  <a:moveTo>
                    <a:pt x="12192000" y="0"/>
                  </a:moveTo>
                  <a:lnTo>
                    <a:pt x="0" y="0"/>
                  </a:lnTo>
                  <a:lnTo>
                    <a:pt x="0" y="93306"/>
                  </a:lnTo>
                  <a:lnTo>
                    <a:pt x="0" y="347222"/>
                  </a:lnTo>
                  <a:lnTo>
                    <a:pt x="88199" y="347222"/>
                  </a:lnTo>
                  <a:lnTo>
                    <a:pt x="130669" y="347222"/>
                  </a:lnTo>
                  <a:lnTo>
                    <a:pt x="264296" y="347222"/>
                  </a:lnTo>
                  <a:lnTo>
                    <a:pt x="336382" y="347222"/>
                  </a:lnTo>
                  <a:cubicBezTo>
                    <a:pt x="396027" y="347222"/>
                    <a:pt x="447150" y="347222"/>
                    <a:pt x="490971" y="347222"/>
                  </a:cubicBezTo>
                  <a:lnTo>
                    <a:pt x="541527" y="347222"/>
                  </a:lnTo>
                  <a:lnTo>
                    <a:pt x="675991" y="347222"/>
                  </a:lnTo>
                  <a:cubicBezTo>
                    <a:pt x="714942" y="347222"/>
                    <a:pt x="734418" y="347222"/>
                    <a:pt x="744156" y="347222"/>
                  </a:cubicBezTo>
                  <a:lnTo>
                    <a:pt x="749861" y="347222"/>
                  </a:lnTo>
                  <a:lnTo>
                    <a:pt x="753894" y="347222"/>
                  </a:lnTo>
                  <a:lnTo>
                    <a:pt x="899139" y="347222"/>
                  </a:lnTo>
                  <a:cubicBezTo>
                    <a:pt x="1104192" y="347222"/>
                    <a:pt x="1104192" y="347222"/>
                    <a:pt x="1104192" y="347222"/>
                  </a:cubicBezTo>
                  <a:cubicBezTo>
                    <a:pt x="1104192" y="347222"/>
                    <a:pt x="1280650" y="347222"/>
                    <a:pt x="1359538" y="275808"/>
                  </a:cubicBezTo>
                  <a:cubicBezTo>
                    <a:pt x="1438426" y="204395"/>
                    <a:pt x="1471641" y="93306"/>
                    <a:pt x="1670936" y="93306"/>
                  </a:cubicBezTo>
                  <a:lnTo>
                    <a:pt x="12192000" y="93306"/>
                  </a:lnTo>
                  <a:close/>
                </a:path>
              </a:pathLst>
            </a:custGeom>
            <a:gradFill>
              <a:gsLst>
                <a:gs pos="100000">
                  <a:srgbClr val="FFAD55"/>
                </a:gs>
                <a:gs pos="53000">
                  <a:srgbClr val="B5AFAB"/>
                </a:gs>
                <a:gs pos="0">
                  <a:srgbClr val="2690F9"/>
                </a:gs>
                <a:gs pos="8000">
                  <a:srgbClr val="6DB0FE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3938" tIns="36969" rIns="73938" bIns="3696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456">
                <a:solidFill>
                  <a:srgbClr val="0070C0"/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B7B6F1CF-0071-31CA-41AC-77E3E9F48B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100000"/>
              <a:alphaModFix amt="80000"/>
            </a:blip>
            <a:stretch>
              <a:fillRect/>
            </a:stretch>
          </p:blipFill>
          <p:spPr>
            <a:xfrm>
              <a:off x="11064548" y="102637"/>
              <a:ext cx="823307" cy="1407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55637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347">
          <p15:clr>
            <a:srgbClr val="FBAE40"/>
          </p15:clr>
        </p15:guide>
        <p15:guide id="3" pos="7333">
          <p15:clr>
            <a:srgbClr val="FBAE40"/>
          </p15:clr>
        </p15:guide>
        <p15:guide id="4" orient="horz" pos="73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섹션-디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5CB67D3-CD6A-3E6F-08E4-A6F3164002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786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347">
          <p15:clr>
            <a:srgbClr val="FBAE40"/>
          </p15:clr>
        </p15:guide>
        <p15:guide id="3" pos="7333">
          <p15:clr>
            <a:srgbClr val="FBAE40"/>
          </p15:clr>
        </p15:guide>
        <p15:guide id="4" orient="horz" pos="73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섹션-구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E9F38DF-2013-E48A-E87C-32D96A143C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05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347">
          <p15:clr>
            <a:srgbClr val="FBAE40"/>
          </p15:clr>
        </p15:guide>
        <p15:guide id="3" pos="7333">
          <p15:clr>
            <a:srgbClr val="FBAE40"/>
          </p15:clr>
        </p15:guide>
        <p15:guide id="4" orient="horz" pos="73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섹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7943D794-2FFC-ECE5-976B-3D5EB8FE30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019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347">
          <p15:clr>
            <a:srgbClr val="FBAE40"/>
          </p15:clr>
        </p15:guide>
        <p15:guide id="3" pos="7333">
          <p15:clr>
            <a:srgbClr val="FBAE40"/>
          </p15:clr>
        </p15:guide>
        <p15:guide id="4" orient="horz" pos="73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섹션-법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E81734C-BCCC-4863-B2F1-D1E336CD054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798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347">
          <p15:clr>
            <a:srgbClr val="FBAE40"/>
          </p15:clr>
        </p15:guide>
        <p15:guide id="3" pos="7333">
          <p15:clr>
            <a:srgbClr val="FBAE40"/>
          </p15:clr>
        </p15:guide>
        <p15:guide id="4" orient="horz" pos="73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섹션-국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E2F9C780-70B8-9570-0EC8-AD854E076D9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24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347">
          <p15:clr>
            <a:srgbClr val="FBAE40"/>
          </p15:clr>
        </p15:guide>
        <p15:guide id="3" pos="7333">
          <p15:clr>
            <a:srgbClr val="FBAE40"/>
          </p15:clr>
        </p15:guide>
        <p15:guide id="4" orient="horz" pos="73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섹션-재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FB1B674-2834-3660-1A61-91BB6AA553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942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347">
          <p15:clr>
            <a:srgbClr val="FBAE40"/>
          </p15:clr>
        </p15:guide>
        <p15:guide id="3" pos="7333">
          <p15:clr>
            <a:srgbClr val="FBAE40"/>
          </p15:clr>
        </p15:guide>
        <p15:guide id="4" orient="horz" pos="73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섹션-에너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BB22E3E-06BB-8BF0-823D-616263815D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877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347">
          <p15:clr>
            <a:srgbClr val="FBAE40"/>
          </p15:clr>
        </p15:guide>
        <p15:guide id="3" pos="7333">
          <p15:clr>
            <a:srgbClr val="FBAE40"/>
          </p15:clr>
        </p15:guide>
        <p15:guide id="4" orient="horz" pos="73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섹션-공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4949F93E-615C-A70B-ED20-04EB14C079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155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347">
          <p15:clr>
            <a:srgbClr val="FBAE40"/>
          </p15:clr>
        </p15:guide>
        <p15:guide id="3" pos="7333">
          <p15:clr>
            <a:srgbClr val="FBAE40"/>
          </p15:clr>
        </p15:guide>
        <p15:guide id="4" orient="horz" pos="73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엔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489F3FA-3146-63D6-9AC8-BA0323CC3C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9B1E5F-4C1E-55FE-737A-6D8707E936F5}"/>
              </a:ext>
            </a:extLst>
          </p:cNvPr>
          <p:cNvSpPr txBox="1"/>
          <p:nvPr userDrawn="1"/>
        </p:nvSpPr>
        <p:spPr>
          <a:xfrm>
            <a:off x="4188273" y="955655"/>
            <a:ext cx="3815468" cy="11240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ko-KR" altLang="en-US" sz="6000" b="1">
                <a:gradFill>
                  <a:gsLst>
                    <a:gs pos="0">
                      <a:srgbClr val="EBF8FF"/>
                    </a:gs>
                    <a:gs pos="100000">
                      <a:srgbClr val="6DB0FE"/>
                    </a:gs>
                  </a:gsLst>
                  <a:lin ang="0" scaled="0"/>
                </a:gradFill>
                <a:latin typeface="NEXON Lv1 Gothic OTF Bold" pitchFamily="2" charset="-128"/>
                <a:ea typeface="NEXON Lv1 Gothic OTF Bold" pitchFamily="2" charset="-128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465195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347">
          <p15:clr>
            <a:srgbClr val="FBAE40"/>
          </p15:clr>
        </p15:guide>
        <p15:guide id="3" pos="7333">
          <p15:clr>
            <a:srgbClr val="FBAE40"/>
          </p15:clr>
        </p15:guide>
        <p15:guide id="4" orient="horz" pos="73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7567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243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889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2AB84C0-238E-8803-5E3C-BBF1FF85E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160506-8A04-2881-184E-25E65A9DA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2FA6C7-7C08-CD0D-CB1C-E8D67C28A8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CB43B8-F129-284A-8942-954448B82D12}" type="datetimeFigureOut">
              <a:rPr kumimoji="1" lang="ko-KR" altLang="en-US" smtClean="0"/>
              <a:t>2026-08-28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552738-259F-41D4-40EB-2AD2885263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F5A991-A7F3-9641-40DD-AB39B50165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23BD-E480-4D40-9877-6128E069A2C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74579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3E1698-DEF8-BA41-8F43-AA1C54762633}" type="datetimeFigureOut">
              <a:rPr kumimoji="1" lang="ko-KR" altLang="en-US" smtClean="0"/>
              <a:t>2026-08-28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AEEBAD-2568-1B4A-85C5-1DB1123E060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90605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17.png"/><Relationship Id="rId10" Type="http://schemas.openxmlformats.org/officeDocument/2006/relationships/image" Target="../media/image30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17.png"/><Relationship Id="rId10" Type="http://schemas.openxmlformats.org/officeDocument/2006/relationships/image" Target="../media/image30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17.png"/><Relationship Id="rId10" Type="http://schemas.openxmlformats.org/officeDocument/2006/relationships/image" Target="../media/image303.png"/><Relationship Id="rId11" Type="http://schemas.openxmlformats.org/officeDocument/2006/relationships/image" Target="../media/image30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17.png"/><Relationship Id="rId10" Type="http://schemas.openxmlformats.org/officeDocument/2006/relationships/image" Target="../media/image30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17.png"/><Relationship Id="rId10" Type="http://schemas.openxmlformats.org/officeDocument/2006/relationships/image" Target="../media/image306.png"/><Relationship Id="rId11" Type="http://schemas.openxmlformats.org/officeDocument/2006/relationships/image" Target="../media/image307.png"/><Relationship Id="rId12" Type="http://schemas.openxmlformats.org/officeDocument/2006/relationships/image" Target="../media/image30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17.png"/><Relationship Id="rId10" Type="http://schemas.openxmlformats.org/officeDocument/2006/relationships/image" Target="../media/image30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17.png"/><Relationship Id="rId10" Type="http://schemas.openxmlformats.org/officeDocument/2006/relationships/image" Target="../media/image310.png"/><Relationship Id="rId11" Type="http://schemas.openxmlformats.org/officeDocument/2006/relationships/image" Target="../media/image3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17.png"/><Relationship Id="rId10" Type="http://schemas.openxmlformats.org/officeDocument/2006/relationships/image" Target="../media/image31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17.png"/><Relationship Id="rId10" Type="http://schemas.openxmlformats.org/officeDocument/2006/relationships/image" Target="../media/image31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17.png"/><Relationship Id="rId10" Type="http://schemas.openxmlformats.org/officeDocument/2006/relationships/image" Target="../media/image314.png"/><Relationship Id="rId11" Type="http://schemas.openxmlformats.org/officeDocument/2006/relationships/image" Target="../media/image315.jpg"/><Relationship Id="rId12" Type="http://schemas.openxmlformats.org/officeDocument/2006/relationships/image" Target="../media/image316.png"/><Relationship Id="rId13" Type="http://schemas.openxmlformats.org/officeDocument/2006/relationships/image" Target="../media/image31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F086B6-6A3A-7879-888C-F252DC182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457521E-45F2-A93F-01A2-4A84E6ED9EAF}"/>
              </a:ext>
            </a:extLst>
          </p:cNvPr>
          <p:cNvSpPr txBox="1"/>
          <p:nvPr/>
        </p:nvSpPr>
        <p:spPr>
          <a:xfrm>
            <a:off x="761999" y="1534989"/>
            <a:ext cx="408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AI </a:t>
            </a:r>
            <a:r>
              <a:rPr kumimoji="1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|</a:t>
            </a:r>
            <a:r>
              <a:rPr kumimoji="1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솔트룩스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35BDCF-A26D-3C64-3DCD-BB4B0DBA1774}"/>
              </a:ext>
            </a:extLst>
          </p:cNvPr>
          <p:cNvSpPr txBox="1"/>
          <p:nvPr/>
        </p:nvSpPr>
        <p:spPr>
          <a:xfrm>
            <a:off x="761998" y="1877889"/>
            <a:ext cx="838533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5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 panose="02000503000000020004" pitchFamily="2" charset="-127"/>
                <a:ea typeface="Pretendard ExtraBold" panose="02000503000000020004" pitchFamily="2" charset="-127"/>
                <a:cs typeface="Pretendard ExtraBold" panose="02000503000000020004" pitchFamily="2" charset="-127"/>
              </a:rPr>
              <a:t>Document Studio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D6B625-9411-0E01-BCAE-74BC10B40BA6}"/>
              </a:ext>
            </a:extLst>
          </p:cNvPr>
          <p:cNvSpPr txBox="1"/>
          <p:nvPr/>
        </p:nvSpPr>
        <p:spPr>
          <a:xfrm>
            <a:off x="761999" y="3570424"/>
            <a:ext cx="408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VLM </a:t>
            </a:r>
            <a:r>
              <a:rPr kumimoji="1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문서파싱 학습 현황</a:t>
            </a:r>
            <a:endParaRPr kumimoji="1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96FD05-D8D1-4B0B-B608-5D479E7CA421}"/>
              </a:ext>
            </a:extLst>
          </p:cNvPr>
          <p:cNvSpPr txBox="1"/>
          <p:nvPr/>
        </p:nvSpPr>
        <p:spPr>
          <a:xfrm>
            <a:off x="761998" y="4516761"/>
            <a:ext cx="51259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2026.09.14  ·  용윤정</a:t>
            </a:r>
            <a:endParaRPr kumimoji="1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20EFD16-5D2A-8984-BB80-E5B4BBC25B90}"/>
              </a:ext>
            </a:extLst>
          </p:cNvPr>
          <p:cNvSpPr/>
          <p:nvPr/>
        </p:nvSpPr>
        <p:spPr>
          <a:xfrm>
            <a:off x="0" y="5743575"/>
            <a:ext cx="12192000" cy="1114425"/>
          </a:xfrm>
          <a:prstGeom prst="rect">
            <a:avLst/>
          </a:prstGeom>
          <a:gradFill>
            <a:gsLst>
              <a:gs pos="59000">
                <a:schemeClr val="bg1">
                  <a:alpha val="36904"/>
                </a:schemeClr>
              </a:gs>
              <a:gs pos="0">
                <a:srgbClr val="4586DD">
                  <a:alpha val="0"/>
                </a:srgbClr>
              </a:gs>
            </a:gsLst>
            <a:lin ang="5400000" scaled="0"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4091C07-5BA7-C64D-A345-A3B9D6CA6F6C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10580889" y="6172624"/>
            <a:ext cx="1177810" cy="315371"/>
          </a:xfrm>
          <a:prstGeom prst="rect">
            <a:avLst/>
          </a:prstGeom>
        </p:spPr>
      </p:pic>
      <p:cxnSp>
        <p:nvCxnSpPr>
          <p:cNvPr id="20" name="직선 연결선[R] 19">
            <a:extLst>
              <a:ext uri="{FF2B5EF4-FFF2-40B4-BE49-F238E27FC236}">
                <a16:creationId xmlns:a16="http://schemas.microsoft.com/office/drawing/2014/main" id="{376BCE4A-41E3-AFA5-FCAE-48311DB19C38}"/>
              </a:ext>
            </a:extLst>
          </p:cNvPr>
          <p:cNvCxnSpPr>
            <a:cxnSpLocks/>
          </p:cNvCxnSpPr>
          <p:nvPr/>
        </p:nvCxnSpPr>
        <p:spPr>
          <a:xfrm>
            <a:off x="10259751" y="6172624"/>
            <a:ext cx="0" cy="355401"/>
          </a:xfrm>
          <a:prstGeom prst="line">
            <a:avLst/>
          </a:prstGeom>
          <a:ln w="12700">
            <a:solidFill>
              <a:schemeClr val="bg1">
                <a:alpha val="38203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그림 26">
            <a:extLst>
              <a:ext uri="{FF2B5EF4-FFF2-40B4-BE49-F238E27FC236}">
                <a16:creationId xmlns:a16="http://schemas.microsoft.com/office/drawing/2014/main" id="{0EB0147F-31DB-94B3-CF97-6E151D3745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937" y="6124827"/>
            <a:ext cx="1834788" cy="487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316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53952" y="414340"/>
            <a:ext cx="408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chemeClr val="bg2">
                    <a:lumMod val="50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Document Studio VLM</a:t>
            </a:r>
          </a:p>
        </p:txBody>
      </p:sp>
      <p:sp>
        <p:nvSpPr>
          <p:cNvPr id="8" name="Title"/>
          <p:cNvSpPr txBox="1"/>
          <p:nvPr/>
        </p:nvSpPr>
        <p:spPr>
          <a:xfrm>
            <a:off x="553951" y="757240"/>
            <a:ext cx="10900000" cy="4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kumimoji="1" lang="ko-KR" altLang="en-US" sz="2800" b="1" i="0" dirty="0">
                <a:solidFill>
                  <a:srgbClr val="14141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작업 흐름 한눈에</a:t>
            </a:r>
          </a:p>
        </p:txBody>
      </p:sp>
      <p:sp>
        <p:nvSpPr>
          <p:cNvPr id="9" name="Subtitle"/>
          <p:cNvSpPr txBox="1"/>
          <p:nvPr/>
        </p:nvSpPr>
        <p:spPr>
          <a:xfrm>
            <a:off x="553951" y="1268000"/>
            <a:ext cx="10900000" cy="2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kumimoji="1" lang="ko-KR" altLang="en-US" sz="1200" b="0" i="0" dirty="0">
                <a:solidFill>
                  <a:srgbClr val="98A6AD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5주 · 15개 실험 · 6단계 (2026-08-12 ~ 09-14)</a:t>
            </a:r>
          </a:p>
        </p:txBody>
      </p:sp>
      <p:pic>
        <p:nvPicPr>
          <p:cNvPr id="5" name="Saltlu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6133" y="6434019"/>
            <a:ext cx="738350" cy="197701"/>
          </a:xfrm>
          <a:prstGeom prst="rect">
            <a:avLst/>
          </a:prstGeom>
        </p:spPr>
      </p:pic>
      <p:pic>
        <p:nvPicPr>
          <p:cNvPr id="101" name="Picture 10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3951" y="1600000"/>
            <a:ext cx="5473227" cy="2620000"/>
          </a:xfrm>
          <a:prstGeom prst="rect">
            <a:avLst/>
          </a:prstGeom>
        </p:spPr>
      </p:pic>
      <p:sp>
        <p:nvSpPr>
          <p:cNvPr id="102" name="Card 102"/>
          <p:cNvSpPr/>
          <p:nvPr/>
        </p:nvSpPr>
        <p:spPr>
          <a:xfrm>
            <a:off x="7153951" y="1600000"/>
            <a:ext cx="4502347" cy="2620000"/>
          </a:xfrm>
          <a:prstGeom prst="roundRect">
            <a:avLst>
              <a:gd name="adj" fmla="val 6000"/>
            </a:avLst>
          </a:prstGeom>
          <a:solidFill>
            <a:srgbClr val="EDF3F4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ko-KR"/>
          </a:p>
        </p:txBody>
      </p:sp>
      <p:sp>
        <p:nvSpPr>
          <p:cNvPr id="103" name="TextBox 103"/>
          <p:cNvSpPr txBox="1"/>
          <p:nvPr/>
        </p:nvSpPr>
        <p:spPr>
          <a:xfrm>
            <a:off x="7433951" y="1780000"/>
            <a:ext cx="3942347" cy="3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ko-KR" altLang="en-US" sz="1150" b="1" i="0" dirty="0">
                <a:solidFill>
                  <a:srgbClr val="2F7D8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현재 위치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7433951" y="2180000"/>
            <a:ext cx="3942347" cy="19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18745" indent="-118745" algn="l">
              <a:lnSpc>
                <a:spcPct val="112000"/>
              </a:lnSpc>
              <a:spcBef>
                <a:spcPts val="0"/>
              </a:spcBef>
              <a:spcAft>
                <a:spcPts val="260"/>
              </a:spcAft>
              <a:buNone/>
            </a:pPr>
            <a:r>
              <a:rPr kumimoji="1" lang="ko-KR" altLang="en-US" sz="950" b="0" i="0" dirty="0">
                <a:solidFill>
                  <a:srgbClr val="2F7D8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kumimoji="1" lang="ko-KR" altLang="en-US" sz="950" b="1" i="0" dirty="0">
                <a:solidFill>
                  <a:srgbClr val="1A2429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배포</a:t>
            </a:r>
            <a:r>
              <a:rPr kumimoji="1" lang="ko-KR" altLang="en-US" sz="950" b="0" i="0" dirty="0">
                <a:solidFill>
                  <a:srgbClr val="5A6B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exp_004 — SS 86.1% · CER 0.106</a:t>
            </a:r>
          </a:p>
          <a:p>
            <a:pPr marL="118745" indent="-118745" algn="l">
              <a:lnSpc>
                <a:spcPct val="112000"/>
              </a:lnSpc>
              <a:spcBef>
                <a:spcPts val="0"/>
              </a:spcBef>
              <a:spcAft>
                <a:spcPts val="260"/>
              </a:spcAft>
              <a:buNone/>
            </a:pPr>
            <a:r>
              <a:rPr kumimoji="1" lang="ko-KR" altLang="en-US" sz="950" b="0" i="0" dirty="0">
                <a:solidFill>
                  <a:srgbClr val="2F7D8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kumimoji="1" lang="ko-KR" altLang="en-US" sz="950" b="1" i="0" dirty="0">
                <a:solidFill>
                  <a:srgbClr val="1A2429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종합 최적</a:t>
            </a:r>
            <a:r>
              <a:rPr kumimoji="1" lang="ko-KR" altLang="en-US" sz="950" b="0" i="0" dirty="0">
                <a:solidFill>
                  <a:srgbClr val="5A6B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exp_011 — SS 85.7% · TEDS 0.741 · 완전일치 65.6%</a:t>
            </a:r>
          </a:p>
          <a:p>
            <a:pPr marL="118745" indent="-118745" algn="l">
              <a:lnSpc>
                <a:spcPct val="112000"/>
              </a:lnSpc>
              <a:spcBef>
                <a:spcPts val="0"/>
              </a:spcBef>
              <a:spcAft>
                <a:spcPts val="260"/>
              </a:spcAft>
              <a:buNone/>
            </a:pPr>
            <a:r>
              <a:rPr kumimoji="1" lang="ko-KR" altLang="en-US" sz="950" b="0" i="0" dirty="0">
                <a:solidFill>
                  <a:srgbClr val="2F7D8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kumimoji="1" lang="ko-KR" altLang="en-US" sz="950" b="1" i="0" dirty="0">
                <a:solidFill>
                  <a:srgbClr val="1A2429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대기</a:t>
            </a:r>
            <a:r>
              <a:rPr kumimoji="1" lang="ko-KR" altLang="en-US" sz="950" b="0" i="0" dirty="0">
                <a:solidFill>
                  <a:srgbClr val="5A6B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exp_015 / exp_014 파싱 완료, KIE 추출기 복구 후 채점(15분)</a:t>
            </a:r>
          </a:p>
          <a:p>
            <a:pPr marL="118745" indent="-118745" algn="l">
              <a:lnSpc>
                <a:spcPct val="112000"/>
              </a:lnSpc>
              <a:spcBef>
                <a:spcPts val="0"/>
              </a:spcBef>
              <a:spcAft>
                <a:spcPts val="260"/>
              </a:spcAft>
              <a:buNone/>
            </a:pPr>
            <a:r>
              <a:rPr kumimoji="1" lang="ko-KR" altLang="en-US" sz="950" b="0" i="0" dirty="0">
                <a:solidFill>
                  <a:srgbClr val="2F7D8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kumimoji="1" lang="ko-KR" altLang="en-US" sz="950" b="1" i="0" dirty="0">
                <a:solidFill>
                  <a:srgbClr val="1A2429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오늘 분석</a:t>
            </a:r>
            <a:r>
              <a:rPr kumimoji="1" lang="ko-KR" altLang="en-US" sz="950" b="0" i="0" dirty="0">
                <a:solidFill>
                  <a:srgbClr val="5A6B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CER 정체의 54%가 평가셋 몫 — 회전 2장 · GT 오류 26건</a:t>
            </a:r>
          </a:p>
        </p:txBody>
      </p:sp>
      <p:graphicFrame>
        <p:nvGraphicFramePr>
          <p:cNvPr id="105" name="Table 105"/>
          <p:cNvGraphicFramePr>
            <a:graphicFrameLocks noGrp="1"/>
          </p:cNvGraphicFramePr>
          <p:nvPr/>
        </p:nvGraphicFramePr>
        <p:xfrm>
          <a:off x="553951" y="4380000"/>
          <a:ext cx="11102347" cy="2070000"/>
        </p:xfrm>
        <a:graphic>
          <a:graphicData uri="http://schemas.openxmlformats.org/drawingml/2006/table">
            <a:tbl>
              <a:tblPr/>
              <a:tblGrid>
                <a:gridCol w="1443305"/>
                <a:gridCol w="999211"/>
                <a:gridCol w="5218103"/>
                <a:gridCol w="3441727"/>
              </a:tblGrid>
              <a:tr h="270000"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5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단계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5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기간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5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한 일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5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결과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① 기준선·정렬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5A6B7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8/12~13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5A6B7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exp_001 베이스 측정 → 003 출력형식 정렬 → 004 크롭 학습 도입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8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CER 0.201 → 0.106 · exp_004 배포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② 4연속 실패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5A6B7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8/18~24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5A6B7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005 증강 · 006 5배 증량 · 007 오염 제거 · 008 베이스 27B 교체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8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전부 exp_004 미달 → "무엇을 늘리나"가 관건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③ 요인 분리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5A6B7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8/25~31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5A6B7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009 크롭↑·페이지 209회 / 010 경량 / 011 크롭↑·반복 24회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8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exp_011 TEDS 목표 달성 · 세 지표 최상위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④ 신규 도메인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5A6B7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9/1~5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5A6B7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SS 명세서·계산서 대응 — 012·013에 서식 10,491행 투입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8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SS 85.6 → 74.7% 급락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⑤ 원인 규명·수정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5A6B7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9/7~12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5A6B7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FATURA2 4,000행 라벨 누락 규명 → 015 복원 · 014 NC 제외 · 평가 vLLM 전환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8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exp_015 표 출력 100/100 회복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⑥ 정체 원인 분석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5A6B7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9/14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5A6B7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자체 평가셋 921 크롭 × 9개 모델 크롭 단위 대조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8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CER 정체의 54%가 평가셋 몫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53952" y="414340"/>
            <a:ext cx="408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chemeClr val="bg2">
                    <a:lumMod val="50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Document Studio VLM</a:t>
            </a:r>
          </a:p>
        </p:txBody>
      </p:sp>
      <p:sp>
        <p:nvSpPr>
          <p:cNvPr id="8" name="Title"/>
          <p:cNvSpPr txBox="1"/>
          <p:nvPr/>
        </p:nvSpPr>
        <p:spPr>
          <a:xfrm>
            <a:off x="553951" y="757240"/>
            <a:ext cx="10900000" cy="4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kumimoji="1" lang="ko-KR" altLang="en-US" sz="2800" b="1" i="0" dirty="0">
                <a:solidFill>
                  <a:srgbClr val="14141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목표와 평가 체계</a:t>
            </a:r>
          </a:p>
        </p:txBody>
      </p:sp>
      <p:sp>
        <p:nvSpPr>
          <p:cNvPr id="9" name="Subtitle"/>
          <p:cNvSpPr txBox="1"/>
          <p:nvPr/>
        </p:nvSpPr>
        <p:spPr>
          <a:xfrm>
            <a:off x="553951" y="1268000"/>
            <a:ext cx="10900000" cy="2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kumimoji="1" lang="ko-KR" altLang="en-US" sz="1200" b="0" i="0" dirty="0">
                <a:solidFill>
                  <a:srgbClr val="98A6AD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1차 목표: CER ≤ 0.097 · TEDS ≥ 0.739 · 완전일치 ≥ 67% (자체 평가셋 기준)</a:t>
            </a:r>
          </a:p>
        </p:txBody>
      </p:sp>
      <p:pic>
        <p:nvPicPr>
          <p:cNvPr id="5" name="Saltlu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6133" y="6434019"/>
            <a:ext cx="738350" cy="197701"/>
          </a:xfrm>
          <a:prstGeom prst="rect">
            <a:avLst/>
          </a:prstGeom>
        </p:spPr>
      </p:pic>
      <p:sp>
        <p:nvSpPr>
          <p:cNvPr id="101" name="Card 101"/>
          <p:cNvSpPr/>
          <p:nvPr/>
        </p:nvSpPr>
        <p:spPr>
          <a:xfrm>
            <a:off x="553951" y="1600000"/>
            <a:ext cx="11102347" cy="760000"/>
          </a:xfrm>
          <a:prstGeom prst="roundRect">
            <a:avLst>
              <a:gd name="adj" fmla="val 6000"/>
            </a:avLst>
          </a:prstGeom>
          <a:solidFill>
            <a:srgbClr val="EDF3F4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ko-KR"/>
          </a:p>
        </p:txBody>
      </p:sp>
      <p:sp>
        <p:nvSpPr>
          <p:cNvPr id="102" name="TextBox 102"/>
          <p:cNvSpPr txBox="1"/>
          <p:nvPr/>
        </p:nvSpPr>
        <p:spPr>
          <a:xfrm>
            <a:off x="873951" y="1800000"/>
            <a:ext cx="10462347" cy="4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ko-KR" altLang="en-US" sz="1250" b="1" i="0" dirty="0">
                <a:solidFill>
                  <a:srgbClr val="2F7D8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과제 — </a:t>
            </a:r>
            <a:r>
              <a:rPr kumimoji="1" lang="ko-KR" altLang="en-US" sz="1250" b="0" i="0" dirty="0">
                <a:solidFill>
                  <a:srgbClr val="5A6B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Document Studio 문서파싱 VLM(Qwen3.6-35B-A3B + LoRA r=16)을 영수증·증빙 서식에서 파인튜닝해 파싱 품질을 올린다. 학습 방향은 자체 평가셋으로, 고객 기준 성능은 SS 평가셋으로 판단한다.</a:t>
            </a:r>
          </a:p>
        </p:txBody>
      </p:sp>
      <p:graphicFrame>
        <p:nvGraphicFramePr>
          <p:cNvPr id="103" name="Table 103"/>
          <p:cNvGraphicFramePr>
            <a:graphicFrameLocks noGrp="1"/>
          </p:cNvGraphicFramePr>
          <p:nvPr/>
        </p:nvGraphicFramePr>
        <p:xfrm>
          <a:off x="553951" y="2560000"/>
          <a:ext cx="11102347" cy="1420000"/>
        </p:xfrm>
        <a:graphic>
          <a:graphicData uri="http://schemas.openxmlformats.org/drawingml/2006/table">
            <a:tbl>
              <a:tblPr/>
              <a:tblGrid>
                <a:gridCol w="1443305"/>
                <a:gridCol w="2664563"/>
                <a:gridCol w="1887398"/>
                <a:gridCol w="1776375"/>
                <a:gridCol w="3330704"/>
              </a:tblGrid>
              <a:tr h="300000"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90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축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90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데이터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90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정답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90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지표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90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쓰임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5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자체 평가셋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2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영수증 블록 크롭 1,019 (text 921 · table 98)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2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사람 검수 (사내 실문서 92장)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2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CER · TEDS · 완전일치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2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학습 방향 판단 — 진짜 정확도의 유일한 근거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5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SS 평가셋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2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400건 (영수증·견적서·계산서·명세서 × 100)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2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GPT 생성 + 골든셋 100건 사람 검증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2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KIE 필드 정확도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2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고객 기준 성능 — 파싱 → KIE 추출 → 필드 대조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104" name="Card 104"/>
          <p:cNvSpPr/>
          <p:nvPr/>
        </p:nvSpPr>
        <p:spPr>
          <a:xfrm>
            <a:off x="553951" y="4180000"/>
            <a:ext cx="3500782" cy="1150000"/>
          </a:xfrm>
          <a:prstGeom prst="roundRect">
            <a:avLst>
              <a:gd name="adj" fmla="val 6000"/>
            </a:avLst>
          </a:prstGeom>
          <a:solidFill>
            <a:srgbClr val="EDF3F4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ko-KR"/>
          </a:p>
        </p:txBody>
      </p:sp>
      <p:sp>
        <p:nvSpPr>
          <p:cNvPr id="105" name="TextBox 105"/>
          <p:cNvSpPr txBox="1"/>
          <p:nvPr/>
        </p:nvSpPr>
        <p:spPr>
          <a:xfrm>
            <a:off x="853951" y="4380000"/>
            <a:ext cx="2900782" cy="3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ko-KR" altLang="en-US" sz="1150" b="1" i="0" dirty="0">
                <a:solidFill>
                  <a:srgbClr val="1A2429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TEDS  ≥ 0.739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853951" y="4760000"/>
            <a:ext cx="2900782" cy="3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ko-KR" altLang="en-US" sz="1400" b="1" i="0" dirty="0">
                <a:solidFill>
                  <a:srgbClr val="2E7D5B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달성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354733" y="4820000"/>
            <a:ext cx="3400000" cy="3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ko-KR" altLang="en-US" sz="900" b="0" i="0" dirty="0">
                <a:solidFill>
                  <a:srgbClr val="5A6B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exp_009 0.748 · exp_011 0.741</a:t>
            </a:r>
          </a:p>
        </p:txBody>
      </p:sp>
      <p:sp>
        <p:nvSpPr>
          <p:cNvPr id="108" name="Card 108"/>
          <p:cNvSpPr/>
          <p:nvPr/>
        </p:nvSpPr>
        <p:spPr>
          <a:xfrm>
            <a:off x="4354733" y="4180000"/>
            <a:ext cx="3500782" cy="1150000"/>
          </a:xfrm>
          <a:prstGeom prst="roundRect">
            <a:avLst>
              <a:gd name="adj" fmla="val 6000"/>
            </a:avLst>
          </a:prstGeom>
          <a:solidFill>
            <a:srgbClr val="FBEDEB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ko-KR"/>
          </a:p>
        </p:txBody>
      </p:sp>
      <p:sp>
        <p:nvSpPr>
          <p:cNvPr id="109" name="TextBox 109"/>
          <p:cNvSpPr txBox="1"/>
          <p:nvPr/>
        </p:nvSpPr>
        <p:spPr>
          <a:xfrm>
            <a:off x="4654733" y="4380000"/>
            <a:ext cx="2900782" cy="3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ko-KR" altLang="en-US" sz="1150" b="1" i="0" dirty="0">
                <a:solidFill>
                  <a:srgbClr val="1A2429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CER  ≤ 0.097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4654733" y="4760000"/>
            <a:ext cx="2900782" cy="3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ko-KR" altLang="en-US" sz="1400" b="1" i="0" dirty="0">
                <a:solidFill>
                  <a:srgbClr val="C0392B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미달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4155515" y="4820000"/>
            <a:ext cx="3400000" cy="3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ko-KR" altLang="en-US" sz="900" b="0" i="0" dirty="0">
                <a:solidFill>
                  <a:srgbClr val="5A6B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최저 exp_004 0.106</a:t>
            </a:r>
          </a:p>
        </p:txBody>
      </p:sp>
      <p:sp>
        <p:nvSpPr>
          <p:cNvPr id="112" name="Card 112"/>
          <p:cNvSpPr/>
          <p:nvPr/>
        </p:nvSpPr>
        <p:spPr>
          <a:xfrm>
            <a:off x="8155515" y="4180000"/>
            <a:ext cx="3500782" cy="1150000"/>
          </a:xfrm>
          <a:prstGeom prst="roundRect">
            <a:avLst>
              <a:gd name="adj" fmla="val 6000"/>
            </a:avLst>
          </a:prstGeom>
          <a:solidFill>
            <a:srgbClr val="FBEDEB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ko-KR"/>
          </a:p>
        </p:txBody>
      </p:sp>
      <p:sp>
        <p:nvSpPr>
          <p:cNvPr id="113" name="TextBox 113"/>
          <p:cNvSpPr txBox="1"/>
          <p:nvPr/>
        </p:nvSpPr>
        <p:spPr>
          <a:xfrm>
            <a:off x="8455515" y="4380000"/>
            <a:ext cx="2900782" cy="3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ko-KR" altLang="en-US" sz="1150" b="1" i="0" dirty="0">
                <a:solidFill>
                  <a:srgbClr val="1A2429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완전일치  ≥ 67%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8455515" y="4760000"/>
            <a:ext cx="2900782" cy="3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ko-KR" altLang="en-US" sz="1400" b="1" i="0" dirty="0">
                <a:solidFill>
                  <a:srgbClr val="C0392B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미달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7956297" y="4820000"/>
            <a:ext cx="3400000" cy="3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ko-KR" altLang="en-US" sz="900" b="0" i="0" dirty="0">
                <a:solidFill>
                  <a:srgbClr val="5A6B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최고 exp_011 65.6%</a:t>
            </a:r>
          </a:p>
        </p:txBody>
      </p:sp>
      <p:sp>
        <p:nvSpPr>
          <p:cNvPr id="116" name="Card 116"/>
          <p:cNvSpPr/>
          <p:nvPr/>
        </p:nvSpPr>
        <p:spPr>
          <a:xfrm>
            <a:off x="553951" y="5520000"/>
            <a:ext cx="11102347" cy="700000"/>
          </a:xfrm>
          <a:prstGeom prst="roundRect">
            <a:avLst>
              <a:gd name="adj" fmla="val 6000"/>
            </a:avLst>
          </a:prstGeom>
          <a:solidFill>
            <a:srgbClr val="FBEDEB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ko-KR"/>
          </a:p>
        </p:txBody>
      </p:sp>
      <p:sp>
        <p:nvSpPr>
          <p:cNvPr id="117" name="TextBox 117"/>
          <p:cNvSpPr txBox="1"/>
          <p:nvPr/>
        </p:nvSpPr>
        <p:spPr>
          <a:xfrm>
            <a:off x="873951" y="5720000"/>
            <a:ext cx="10462347" cy="3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ko-KR" altLang="en-US" sz="1200" b="1" i="0" dirty="0">
                <a:solidFill>
                  <a:srgbClr val="C0392B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CER·완전일치가 왜 안 오르는지</a:t>
            </a:r>
            <a:r>
              <a:rPr kumimoji="1" lang="ko-KR" altLang="en-US" sz="1200" b="0" i="0" dirty="0">
                <a:solidFill>
                  <a:srgbClr val="5A6B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슬라이드 12~14의 주제 — 오늘 크롭 단위로 다시 분해한 결과 원인의 절반 이상이 평가셋 쪽에 있었습니다.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53952" y="414340"/>
            <a:ext cx="408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chemeClr val="bg2">
                    <a:lumMod val="50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Document Studio VLM</a:t>
            </a:r>
          </a:p>
        </p:txBody>
      </p:sp>
      <p:sp>
        <p:nvSpPr>
          <p:cNvPr id="8" name="Title"/>
          <p:cNvSpPr txBox="1"/>
          <p:nvPr/>
        </p:nvSpPr>
        <p:spPr>
          <a:xfrm>
            <a:off x="553951" y="757240"/>
            <a:ext cx="10900000" cy="4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kumimoji="1" lang="ko-KR" altLang="en-US" sz="2800" b="1" i="0" dirty="0">
                <a:solidFill>
                  <a:srgbClr val="14141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학습 이력 ① — 기준선 → 출력형식 정렬 → 크롭 학습</a:t>
            </a:r>
          </a:p>
        </p:txBody>
      </p:sp>
      <p:sp>
        <p:nvSpPr>
          <p:cNvPr id="9" name="Subtitle"/>
          <p:cNvSpPr txBox="1"/>
          <p:nvPr/>
        </p:nvSpPr>
        <p:spPr>
          <a:xfrm>
            <a:off x="553951" y="1268000"/>
            <a:ext cx="10900000" cy="2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kumimoji="1" lang="ko-KR" altLang="en-US" sz="1200" b="0" i="0" dirty="0">
                <a:solidFill>
                  <a:srgbClr val="98A6AD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exp_001 ~ 004 · 2026-08-12~13</a:t>
            </a:r>
          </a:p>
        </p:txBody>
      </p:sp>
      <p:pic>
        <p:nvPicPr>
          <p:cNvPr id="5" name="Saltlu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6133" y="6434019"/>
            <a:ext cx="738350" cy="197701"/>
          </a:xfrm>
          <a:prstGeom prst="rect">
            <a:avLst/>
          </a:prstGeom>
        </p:spPr>
      </p:pic>
      <p:graphicFrame>
        <p:nvGraphicFramePr>
          <p:cNvPr id="101" name="Table 101"/>
          <p:cNvGraphicFramePr>
            <a:graphicFrameLocks noGrp="1"/>
          </p:cNvGraphicFramePr>
          <p:nvPr/>
        </p:nvGraphicFramePr>
        <p:xfrm>
          <a:off x="553951" y="1620000"/>
          <a:ext cx="11102347" cy="3100000"/>
        </p:xfrm>
        <a:graphic>
          <a:graphicData uri="http://schemas.openxmlformats.org/drawingml/2006/table">
            <a:tbl>
              <a:tblPr/>
              <a:tblGrid>
                <a:gridCol w="999211"/>
                <a:gridCol w="2664563"/>
                <a:gridCol w="3330704"/>
                <a:gridCol w="1776375"/>
                <a:gridCol w="2331492"/>
              </a:tblGrid>
              <a:tr h="300000"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90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실험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90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왜 했나 (가설)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90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무엇을 했나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90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결과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90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배운 것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50" b="1" dirty="0">
                          <a:solidFill>
                            <a:srgbClr val="2F7D8C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exp_001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2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파인튜닝이 넘어야 할 기준선이 필요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2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사내 서빙 API(luxia-document-parsing-high) 크롭 978건 측정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2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CER 0.201 · TEDS 0.703 · 폭주 45건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2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thinking을 안 끄면 추론 과정을 뱉어 CER이 붕괴한다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50" b="1" dirty="0">
                          <a:solidFill>
                            <a:srgbClr val="2F7D8C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exp_003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2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학습 데이터의 태스크·출력형식을 평가 형식(HTML 표 + 전사)에 맞추면 오르는가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2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upload_mix 4,496행 (영수증 187×8 + 공공문서 3,000) · LoRA r=16 · 2 epoch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2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CER 0.130 · TEDS 0.729 · 폭주 11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2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출력 형식 정렬만으로 TEDS +0.06 — 표를 HTML로 내는 법을 배움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1000000"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50" b="1" dirty="0">
                          <a:solidFill>
                            <a:srgbClr val="2F7D8C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exp_004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2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평가는 블록 크롭 단위인데 학습은 페이지 단위 — 단위를 맞추면 CER이 오르는가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2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exp004c 11,173행 — 표 크롭 5,533(PubTabNet 5,461) · 영수증 크롭 820 · 페이지 182(반복 8→1회) · 공공문서 4,638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2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CER 0.106 · 완전일치 64.2% · 반복루프 7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2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크롭 학습 도입이 CER을 만든 결정타. 이 모델이 현 배포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2" name="Card 102"/>
          <p:cNvSpPr/>
          <p:nvPr/>
        </p:nvSpPr>
        <p:spPr>
          <a:xfrm>
            <a:off x="553951" y="5000000"/>
            <a:ext cx="11102347" cy="620000"/>
          </a:xfrm>
          <a:prstGeom prst="roundRect">
            <a:avLst>
              <a:gd name="adj" fmla="val 6000"/>
            </a:avLst>
          </a:prstGeom>
          <a:solidFill>
            <a:srgbClr val="EDF3F4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ko-KR"/>
          </a:p>
        </p:txBody>
      </p:sp>
      <p:sp>
        <p:nvSpPr>
          <p:cNvPr id="103" name="TextBox 103"/>
          <p:cNvSpPr txBox="1"/>
          <p:nvPr/>
        </p:nvSpPr>
        <p:spPr>
          <a:xfrm>
            <a:off x="873951" y="5200000"/>
            <a:ext cx="10462347" cy="2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ko-KR" altLang="en-US" sz="1050" b="1" i="0" dirty="0">
                <a:solidFill>
                  <a:srgbClr val="2F7D8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공통 설정 — </a:t>
            </a:r>
            <a:r>
              <a:rPr kumimoji="1" lang="ko-KR" altLang="en-US" sz="1050" b="0" i="0" dirty="0">
                <a:solidFill>
                  <a:srgbClr val="5A6B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Qwen3.6-35B-A3B · LoRA r=16/α32 · lr 1e-4 · 유효 배치 8 · max_len 8192 · H100×2   (exp_002는 스모크 테스트, 측정 없음)</a:t>
            </a:r>
          </a:p>
        </p:txBody>
      </p:sp>
      <p:sp>
        <p:nvSpPr>
          <p:cNvPr id="104" name="Card 104"/>
          <p:cNvSpPr/>
          <p:nvPr/>
        </p:nvSpPr>
        <p:spPr>
          <a:xfrm>
            <a:off x="553951" y="5740000"/>
            <a:ext cx="11102347" cy="620000"/>
          </a:xfrm>
          <a:prstGeom prst="roundRect">
            <a:avLst>
              <a:gd name="adj" fmla="val 6000"/>
            </a:avLst>
          </a:prstGeom>
          <a:solidFill>
            <a:srgbClr val="FBEDEB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ko-KR"/>
          </a:p>
        </p:txBody>
      </p:sp>
      <p:sp>
        <p:nvSpPr>
          <p:cNvPr id="105" name="TextBox 105"/>
          <p:cNvSpPr txBox="1"/>
          <p:nvPr/>
        </p:nvSpPr>
        <p:spPr>
          <a:xfrm>
            <a:off x="873951" y="5940000"/>
            <a:ext cx="10462347" cy="2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ko-KR" altLang="en-US" sz="1150" b="1" i="0" dirty="0">
                <a:solidFill>
                  <a:srgbClr val="C0392B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exp_004 이후 CER 0.106을 넘는 실험이 5주간 없었습니다.</a:t>
            </a:r>
            <a:r>
              <a:rPr kumimoji="1" lang="ko-KR" altLang="en-US" sz="1150" b="0" i="0" dirty="0">
                <a:solidFill>
                  <a:srgbClr val="5A6B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그 이유는 슬라이드 12~13에서 다룹니다.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53952" y="414340"/>
            <a:ext cx="408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chemeClr val="bg2">
                    <a:lumMod val="50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Document Studio VLM</a:t>
            </a:r>
          </a:p>
        </p:txBody>
      </p:sp>
      <p:sp>
        <p:nvSpPr>
          <p:cNvPr id="8" name="Title"/>
          <p:cNvSpPr txBox="1"/>
          <p:nvPr/>
        </p:nvSpPr>
        <p:spPr>
          <a:xfrm>
            <a:off x="553951" y="757240"/>
            <a:ext cx="10900000" cy="4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kumimoji="1" lang="ko-KR" altLang="en-US" sz="2800" b="1" i="0" dirty="0">
                <a:solidFill>
                  <a:srgbClr val="14141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학습 이력 ② — 4연속 실패에서 배운 것</a:t>
            </a:r>
          </a:p>
        </p:txBody>
      </p:sp>
      <p:sp>
        <p:nvSpPr>
          <p:cNvPr id="9" name="Subtitle"/>
          <p:cNvSpPr txBox="1"/>
          <p:nvPr/>
        </p:nvSpPr>
        <p:spPr>
          <a:xfrm>
            <a:off x="553951" y="1268000"/>
            <a:ext cx="10900000" cy="2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kumimoji="1" lang="ko-KR" altLang="en-US" sz="1200" b="0" i="0" dirty="0">
                <a:solidFill>
                  <a:srgbClr val="98A6AD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exp_005 ~ 008 · 2026-08-18~24 · 네 가설을 하나씩 검증하고 전부 기각</a:t>
            </a:r>
          </a:p>
        </p:txBody>
      </p:sp>
      <p:pic>
        <p:nvPicPr>
          <p:cNvPr id="5" name="Saltlu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6133" y="6434019"/>
            <a:ext cx="738350" cy="197701"/>
          </a:xfrm>
          <a:prstGeom prst="rect">
            <a:avLst/>
          </a:prstGeom>
        </p:spPr>
      </p:pic>
      <p:graphicFrame>
        <p:nvGraphicFramePr>
          <p:cNvPr id="101" name="Table 101"/>
          <p:cNvGraphicFramePr>
            <a:graphicFrameLocks noGrp="1"/>
          </p:cNvGraphicFramePr>
          <p:nvPr/>
        </p:nvGraphicFramePr>
        <p:xfrm>
          <a:off x="553951" y="1620000"/>
          <a:ext cx="11102347" cy="3340000"/>
        </p:xfrm>
        <a:graphic>
          <a:graphicData uri="http://schemas.openxmlformats.org/drawingml/2006/table">
            <a:tbl>
              <a:tblPr/>
              <a:tblGrid>
                <a:gridCol w="999211"/>
                <a:gridCol w="3108657"/>
                <a:gridCol w="3663774"/>
                <a:gridCol w="1443305"/>
                <a:gridCol w="1887398"/>
              </a:tblGrid>
              <a:tr h="300000"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90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실험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90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왜 했나 (가설)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90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무엇을 했나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90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CER / TEDS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90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판정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</a:tr>
              <a:tr h="760000"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50" b="1" dirty="0">
                          <a:solidFill>
                            <a:srgbClr val="2F7D8C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exp_005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2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실제 촬영 영수증은 기울고 흐리다 — 이미지 변형을 학습하면 강건해지는가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2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exp_004와 데이터 동일 + 온라인 증강 9종 (회전 ±8°·원근·말림·퇴색·그림자·블러·노이즈·JPEG·축소)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2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0.108 / 0.683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20" b="1" dirty="0">
                          <a:solidFill>
                            <a:srgbClr val="C0392B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✗ TEDS −0.025 — 크롭이 작아 변형이 정보를 파괴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BEDEB"/>
                    </a:solidFill>
                  </a:tcPr>
                </a:tc>
              </a:tr>
              <a:tr h="760000"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50" b="1" dirty="0">
                          <a:solidFill>
                            <a:srgbClr val="2F7D8C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exp_006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2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학습 크롭 913개 중 892개를 이미 소진 — 재료 자체를 5배 늘리면 오르는가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2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합성 영수증 v1·v2 2,000장 생성 + 후보 5소스 12,107장 편입 → 50,457행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2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0.118 / 0.692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20" b="1" dirty="0">
                          <a:solidFill>
                            <a:srgbClr val="C0392B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✗ 5배 증량 순효과 없음 · 폭주 37건으로 최악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BEDEB"/>
                    </a:solidFill>
                  </a:tcPr>
                </a:tc>
              </a:tr>
              <a:tr h="760000"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50" b="1" dirty="0">
                          <a:solidFill>
                            <a:srgbClr val="2F7D8C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exp_007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2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exp_006 정답의 4.9%(1,757건)에 HTML 태그 혼입 발견 — 오염이 정체 원인인가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2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태그 제거 904 · 정답 없는 행 삭제 853 → 49,604행 재학습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2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0.116 / 0.669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20" b="1" dirty="0">
                          <a:solidFill>
                            <a:srgbClr val="C0392B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✗ 오염은 정체 원인이 아니었음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BEDEB"/>
                    </a:solidFill>
                  </a:tcPr>
                </a:tc>
              </a:tr>
              <a:tr h="760000"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50" b="1" dirty="0">
                          <a:solidFill>
                            <a:srgbClr val="2F7D8C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exp_008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2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MoE 35B-A3B(활성 3B)가 작아서 한계인가 — dense 27B로 바꾸면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2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베이스를 Qwen3.8-27B dense로 교체, 데이터 동일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2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0.131 / 0.688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20" b="1" dirty="0">
                          <a:solidFill>
                            <a:srgbClr val="C0392B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✗ eval_loss 35B 0.183 &lt; 27B 0.200 → 베이스 35B 고정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BEDEB"/>
                    </a:solidFill>
                  </a:tcPr>
                </a:tc>
              </a:tr>
            </a:tbl>
          </a:graphicData>
        </a:graphic>
      </p:graphicFrame>
      <p:sp>
        <p:nvSpPr>
          <p:cNvPr id="102" name="Card 102"/>
          <p:cNvSpPr/>
          <p:nvPr/>
        </p:nvSpPr>
        <p:spPr>
          <a:xfrm>
            <a:off x="553951" y="4980000"/>
            <a:ext cx="11102347" cy="640000"/>
          </a:xfrm>
          <a:prstGeom prst="roundRect">
            <a:avLst>
              <a:gd name="adj" fmla="val 6000"/>
            </a:avLst>
          </a:prstGeom>
          <a:solidFill>
            <a:srgbClr val="EDF3F4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ko-KR"/>
          </a:p>
        </p:txBody>
      </p:sp>
      <p:sp>
        <p:nvSpPr>
          <p:cNvPr id="103" name="TextBox 103"/>
          <p:cNvSpPr txBox="1"/>
          <p:nvPr/>
        </p:nvSpPr>
        <p:spPr>
          <a:xfrm>
            <a:off x="873951" y="5180000"/>
            <a:ext cx="10462347" cy="3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ko-KR" altLang="en-US" sz="1200" b="1" i="0" dirty="0">
                <a:solidFill>
                  <a:srgbClr val="2F7D8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이 구간의 결론 — </a:t>
            </a:r>
            <a:r>
              <a:rPr kumimoji="1" lang="ko-KR" altLang="en-US" sz="1200" b="1" i="0" dirty="0">
                <a:solidFill>
                  <a:srgbClr val="1A2429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"데이터를 늘리는 것만으로는 오르지 않는다. 무엇을 늘리는가가 관건이다."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553951" y="5780000"/>
            <a:ext cx="11102347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18745" indent="-118745"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kumimoji="1" lang="ko-KR" altLang="en-US" sz="950" b="0" i="0" dirty="0">
                <a:solidFill>
                  <a:srgbClr val="2F7D8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kumimoji="1" lang="ko-KR" altLang="en-US" sz="950" b="1" i="0" dirty="0">
                <a:solidFill>
                  <a:srgbClr val="1A2429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부수 성과</a:t>
            </a:r>
            <a:r>
              <a:rPr kumimoji="1" lang="ko-KR" altLang="en-US" sz="950" b="0" i="0" dirty="0">
                <a:solidFill>
                  <a:srgbClr val="5A6B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평가 지표 정비 — CER 0~1 유계 통일 · 폭주 억제 디코딩(norep8)로 평균 CER 1.93 → 0.15 · eval_loss는 성능 지표가 아님을 확인 · 학습 처리량 20.6 → 8.5 s/it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53952" y="414340"/>
            <a:ext cx="408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chemeClr val="bg2">
                    <a:lumMod val="50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Document Studio VLM</a:t>
            </a:r>
          </a:p>
        </p:txBody>
      </p:sp>
      <p:sp>
        <p:nvSpPr>
          <p:cNvPr id="8" name="Title"/>
          <p:cNvSpPr txBox="1"/>
          <p:nvPr/>
        </p:nvSpPr>
        <p:spPr>
          <a:xfrm>
            <a:off x="553951" y="757240"/>
            <a:ext cx="10900000" cy="4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kumimoji="1" lang="ko-KR" altLang="en-US" sz="2800" b="1" i="0" dirty="0">
                <a:solidFill>
                  <a:srgbClr val="14141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학습 이력 ③ — 요인 분리로 찾은 최적 조합</a:t>
            </a:r>
          </a:p>
        </p:txBody>
      </p:sp>
      <p:sp>
        <p:nvSpPr>
          <p:cNvPr id="9" name="Subtitle"/>
          <p:cNvSpPr txBox="1"/>
          <p:nvPr/>
        </p:nvSpPr>
        <p:spPr>
          <a:xfrm>
            <a:off x="553951" y="1268000"/>
            <a:ext cx="10900000" cy="2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kumimoji="1" lang="ko-KR" altLang="en-US" sz="1200" b="0" i="0" dirty="0">
                <a:solidFill>
                  <a:srgbClr val="98A6AD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exp_009 ~ 011 · 2026-08-25~31 · exp_011이 종합 최적</a:t>
            </a:r>
          </a:p>
        </p:txBody>
      </p:sp>
      <p:pic>
        <p:nvPicPr>
          <p:cNvPr id="5" name="Saltlu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6133" y="6434019"/>
            <a:ext cx="738350" cy="197701"/>
          </a:xfrm>
          <a:prstGeom prst="rect">
            <a:avLst/>
          </a:prstGeom>
        </p:spPr>
      </p:pic>
      <p:sp>
        <p:nvSpPr>
          <p:cNvPr id="101" name="Card 101"/>
          <p:cNvSpPr/>
          <p:nvPr/>
        </p:nvSpPr>
        <p:spPr>
          <a:xfrm>
            <a:off x="553951" y="1600000"/>
            <a:ext cx="11102347" cy="660000"/>
          </a:xfrm>
          <a:prstGeom prst="roundRect">
            <a:avLst>
              <a:gd name="adj" fmla="val 6000"/>
            </a:avLst>
          </a:prstGeom>
          <a:solidFill>
            <a:srgbClr val="EDF3F4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ko-KR"/>
          </a:p>
        </p:txBody>
      </p:sp>
      <p:sp>
        <p:nvSpPr>
          <p:cNvPr id="102" name="TextBox 102"/>
          <p:cNvSpPr txBox="1"/>
          <p:nvPr/>
        </p:nvSpPr>
        <p:spPr>
          <a:xfrm>
            <a:off x="873951" y="1800000"/>
            <a:ext cx="10462347" cy="3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ko-KR" altLang="en-US" sz="1150" b="1" i="0" dirty="0">
                <a:solidFill>
                  <a:srgbClr val="2F7D8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왜 이 세 실험인가 — </a:t>
            </a:r>
            <a:r>
              <a:rPr kumimoji="1" lang="ko-KR" altLang="en-US" sz="1150" b="0" i="0" dirty="0">
                <a:solidFill>
                  <a:srgbClr val="5A6B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exp_006의 증량분에 "크롭 증량"과 "실제 영수증 페이지 반복" 두 요인이 섞여 있어 어느 쪽이 무엇을 움직이는지 몰랐습니다. 하나를 고정하고 하나만 바꿨습니다.</a:t>
            </a:r>
          </a:p>
        </p:txBody>
      </p:sp>
      <p:pic>
        <p:nvPicPr>
          <p:cNvPr id="103" name="Picture 10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3951" y="2400000"/>
            <a:ext cx="6100000" cy="2126739"/>
          </a:xfrm>
          <a:prstGeom prst="rect">
            <a:avLst/>
          </a:prstGeom>
        </p:spPr>
      </p:pic>
      <p:graphicFrame>
        <p:nvGraphicFramePr>
          <p:cNvPr id="104" name="Table 104"/>
          <p:cNvGraphicFramePr>
            <a:graphicFrameLocks noGrp="1"/>
          </p:cNvGraphicFramePr>
          <p:nvPr/>
        </p:nvGraphicFramePr>
        <p:xfrm>
          <a:off x="6953951" y="2400000"/>
          <a:ext cx="4702347" cy="1480000"/>
        </p:xfrm>
        <a:graphic>
          <a:graphicData uri="http://schemas.openxmlformats.org/drawingml/2006/table">
            <a:tbl>
              <a:tblPr/>
              <a:tblGrid>
                <a:gridCol w="799398"/>
                <a:gridCol w="705352"/>
                <a:gridCol w="799398"/>
                <a:gridCol w="799398"/>
                <a:gridCol w="799398"/>
                <a:gridCol w="799398"/>
              </a:tblGrid>
              <a:tr h="280000"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실험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크롭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페이지 반복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CER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TEDS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완전일치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exp_004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5A6B7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892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5A6B7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1회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0.106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0.708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64.2%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exp_009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5A6B7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41,752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5A6B7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209회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0.116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0.748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63.5%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exp_010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5A6B7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892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5A6B7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24회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0.113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0.734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63.7%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2F7D8C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exp_011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5A6B7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12,000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5A6B7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24회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0.109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0.741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65.6%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EDF3F4"/>
                    </a:solidFill>
                  </a:tcPr>
                </a:tc>
              </a:tr>
            </a:tbl>
          </a:graphicData>
        </a:graphic>
      </p:graphicFrame>
      <p:sp>
        <p:nvSpPr>
          <p:cNvPr id="105" name="TextBox 105"/>
          <p:cNvSpPr txBox="1"/>
          <p:nvPr/>
        </p:nvSpPr>
        <p:spPr>
          <a:xfrm>
            <a:off x="6953951" y="3980000"/>
            <a:ext cx="4702347" cy="12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18745" indent="-118745" algn="l">
              <a:lnSpc>
                <a:spcPct val="112000"/>
              </a:lnSpc>
              <a:spcBef>
                <a:spcPts val="0"/>
              </a:spcBef>
              <a:spcAft>
                <a:spcPts val="240"/>
              </a:spcAft>
              <a:buNone/>
            </a:pPr>
            <a:r>
              <a:rPr kumimoji="1" lang="ko-KR" altLang="en-US" sz="900" b="0" i="0" dirty="0">
                <a:solidFill>
                  <a:srgbClr val="2F7D8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kumimoji="1" lang="ko-KR" altLang="en-US" sz="900" b="0" i="0" dirty="0">
                <a:solidFill>
                  <a:srgbClr val="5A6B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크롭 증량 → TEDS↑ (010 → 011: 0.734 → 0.741), CER도 동반 개선</a:t>
            </a:r>
          </a:p>
          <a:p>
            <a:pPr marL="118745" indent="-118745" algn="l">
              <a:lnSpc>
                <a:spcPct val="112000"/>
              </a:lnSpc>
              <a:spcBef>
                <a:spcPts val="0"/>
              </a:spcBef>
              <a:spcAft>
                <a:spcPts val="240"/>
              </a:spcAft>
              <a:buNone/>
            </a:pPr>
            <a:r>
              <a:rPr kumimoji="1" lang="ko-KR" altLang="en-US" sz="900" b="0" i="0" dirty="0">
                <a:solidFill>
                  <a:srgbClr val="2F7D8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kumimoji="1" lang="ko-KR" altLang="en-US" sz="900" b="0" i="0" dirty="0">
                <a:solidFill>
                  <a:srgbClr val="5A6B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페이지 과다 반복 → CER↓ (1회 0.106 → 24회 0.113 → 209회 0.116) — 원본 182장뿐이라 반복이 곧 과적합</a:t>
            </a:r>
          </a:p>
        </p:txBody>
      </p:sp>
      <p:sp>
        <p:nvSpPr>
          <p:cNvPr id="106" name="Card 106"/>
          <p:cNvSpPr/>
          <p:nvPr/>
        </p:nvSpPr>
        <p:spPr>
          <a:xfrm>
            <a:off x="553951" y="4800000"/>
            <a:ext cx="11102347" cy="700000"/>
          </a:xfrm>
          <a:prstGeom prst="roundRect">
            <a:avLst>
              <a:gd name="adj" fmla="val 6000"/>
            </a:avLst>
          </a:prstGeom>
          <a:solidFill>
            <a:srgbClr val="EDF3F4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ko-KR"/>
          </a:p>
        </p:txBody>
      </p:sp>
      <p:sp>
        <p:nvSpPr>
          <p:cNvPr id="107" name="TextBox 107"/>
          <p:cNvSpPr txBox="1"/>
          <p:nvPr/>
        </p:nvSpPr>
        <p:spPr>
          <a:xfrm>
            <a:off x="873951" y="5000000"/>
            <a:ext cx="10462347" cy="3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ko-KR" altLang="en-US" sz="1200" b="1" i="0" dirty="0">
                <a:solidFill>
                  <a:srgbClr val="2F7D8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결론 — </a:t>
            </a:r>
            <a:r>
              <a:rPr kumimoji="1" lang="ko-KR" altLang="en-US" sz="1200" b="0" i="0" dirty="0">
                <a:solidFill>
                  <a:srgbClr val="5A6B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exp_011이 세 지표 동시 최상위, TEDS 목표(0.739) 달성. 크롭은 늘리고 페이지 반복은 억제하는 조합이 최적입니다.</a:t>
            </a:r>
          </a:p>
        </p:txBody>
      </p:sp>
      <p:sp>
        <p:nvSpPr>
          <p:cNvPr id="108" name="Card 108"/>
          <p:cNvSpPr/>
          <p:nvPr/>
        </p:nvSpPr>
        <p:spPr>
          <a:xfrm>
            <a:off x="553951" y="5620000"/>
            <a:ext cx="11102347" cy="700000"/>
          </a:xfrm>
          <a:prstGeom prst="roundRect">
            <a:avLst>
              <a:gd name="adj" fmla="val 6000"/>
            </a:avLst>
          </a:prstGeom>
          <a:solidFill>
            <a:srgbClr val="FBEDEB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ko-KR"/>
          </a:p>
        </p:txBody>
      </p:sp>
      <p:sp>
        <p:nvSpPr>
          <p:cNvPr id="109" name="TextBox 109"/>
          <p:cNvSpPr txBox="1"/>
          <p:nvPr/>
        </p:nvSpPr>
        <p:spPr>
          <a:xfrm>
            <a:off x="873951" y="5820000"/>
            <a:ext cx="10462347" cy="3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ko-KR" altLang="en-US" sz="1150" b="1" i="0" dirty="0">
                <a:solidFill>
                  <a:srgbClr val="C0392B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다음으로 넘어간 이유 — </a:t>
            </a:r>
            <a:r>
              <a:rPr kumimoji="1" lang="ko-KR" altLang="en-US" sz="1150" b="0" i="0" dirty="0">
                <a:solidFill>
                  <a:srgbClr val="5A6B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SS 400건에서 exp_009·010이 동점(0.868). 영수증 재배치로는 SS가 더 안 오른다고 판단해 신규 도메인 투입으로 전환했습니다.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53952" y="414340"/>
            <a:ext cx="408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chemeClr val="bg2">
                    <a:lumMod val="50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Document Studio VLM</a:t>
            </a:r>
          </a:p>
        </p:txBody>
      </p:sp>
      <p:sp>
        <p:nvSpPr>
          <p:cNvPr id="8" name="Title"/>
          <p:cNvSpPr txBox="1"/>
          <p:nvPr/>
        </p:nvSpPr>
        <p:spPr>
          <a:xfrm>
            <a:off x="553951" y="757240"/>
            <a:ext cx="10900000" cy="4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kumimoji="1" lang="ko-KR" altLang="en-US" sz="2800" b="1" i="0" dirty="0">
                <a:solidFill>
                  <a:srgbClr val="14141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학습 이력 ④ — 신규 도메인 → 오염 사고 → 수정</a:t>
            </a:r>
          </a:p>
        </p:txBody>
      </p:sp>
      <p:sp>
        <p:nvSpPr>
          <p:cNvPr id="9" name="Subtitle"/>
          <p:cNvSpPr txBox="1"/>
          <p:nvPr/>
        </p:nvSpPr>
        <p:spPr>
          <a:xfrm>
            <a:off x="553951" y="1268000"/>
            <a:ext cx="10900000" cy="2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kumimoji="1" lang="ko-KR" altLang="en-US" sz="1200" b="0" i="0" dirty="0">
                <a:solidFill>
                  <a:srgbClr val="98A6AD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exp_012 ~ 015 · 2026-09-01~14 · 정확도 %는 KIE 추출기 다운으로 채점 대기(복구 시 15분)</a:t>
            </a:r>
          </a:p>
        </p:txBody>
      </p:sp>
      <p:pic>
        <p:nvPicPr>
          <p:cNvPr id="5" name="Saltlu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6133" y="6434019"/>
            <a:ext cx="738350" cy="197701"/>
          </a:xfrm>
          <a:prstGeom prst="rect">
            <a:avLst/>
          </a:prstGeom>
        </p:spPr>
      </p:pic>
      <p:sp>
        <p:nvSpPr>
          <p:cNvPr id="101" name="Card 101"/>
          <p:cNvSpPr/>
          <p:nvPr/>
        </p:nvSpPr>
        <p:spPr>
          <a:xfrm>
            <a:off x="553951" y="1600000"/>
            <a:ext cx="11102347" cy="660000"/>
          </a:xfrm>
          <a:prstGeom prst="roundRect">
            <a:avLst>
              <a:gd name="adj" fmla="val 6000"/>
            </a:avLst>
          </a:prstGeom>
          <a:solidFill>
            <a:srgbClr val="EDF3F4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ko-KR"/>
          </a:p>
        </p:txBody>
      </p:sp>
      <p:sp>
        <p:nvSpPr>
          <p:cNvPr id="102" name="TextBox 102"/>
          <p:cNvSpPr txBox="1"/>
          <p:nvPr/>
        </p:nvSpPr>
        <p:spPr>
          <a:xfrm>
            <a:off x="873951" y="1800000"/>
            <a:ext cx="10462347" cy="3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ko-KR" altLang="en-US" sz="1150" b="1" i="0" dirty="0">
                <a:solidFill>
                  <a:srgbClr val="2F7D8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왜 — </a:t>
            </a:r>
            <a:r>
              <a:rPr kumimoji="1" lang="ko-KR" altLang="en-US" sz="1150" b="0" i="0" dirty="0">
                <a:solidFill>
                  <a:srgbClr val="5A6B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SS 카테고리별 점수에서 명세서(−0.6p, 유일한 하락)와 계산서(81.1%, 절대값 최저)가 미학습 상태였습니다. 학습셋에 무역·금융 서식이 0행이었습니다.</a:t>
            </a:r>
          </a:p>
        </p:txBody>
      </p:sp>
      <p:graphicFrame>
        <p:nvGraphicFramePr>
          <p:cNvPr id="103" name="Table 103"/>
          <p:cNvGraphicFramePr>
            <a:graphicFrameLocks noGrp="1"/>
          </p:cNvGraphicFramePr>
          <p:nvPr/>
        </p:nvGraphicFramePr>
        <p:xfrm>
          <a:off x="553951" y="2400000"/>
          <a:ext cx="11102347" cy="2680000"/>
        </p:xfrm>
        <a:graphic>
          <a:graphicData uri="http://schemas.openxmlformats.org/drawingml/2006/table">
            <a:tbl>
              <a:tblPr/>
              <a:tblGrid>
                <a:gridCol w="1221258"/>
                <a:gridCol w="5773220"/>
                <a:gridCol w="4107868"/>
              </a:tblGrid>
              <a:tr h="280000"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5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실험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5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무엇을 했나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5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결과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20" b="1" dirty="0">
                          <a:solidFill>
                            <a:srgbClr val="2F7D8C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exp_012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exp_011 구성 + 신규 도메인 10,491행 (선임 제공 std_hb 5,000 · 자체 ctg 8,000 · 공개 인보이스 4,491) → 47,686행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C0392B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SS 77.3% (−8.3p)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BEDEB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20" b="1" dirty="0">
                          <a:solidFill>
                            <a:srgbClr val="2F7D8C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exp_013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exp_012에서 ctg 구판(S18과 시드 중복) 제외 → 40,676행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C0392B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SS 74.7% (−10.9p) · 견적서 표 47/100 · 인보이스 37/100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BEDEB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20" b="1" dirty="0">
                          <a:solidFill>
                            <a:srgbClr val="2F7D8C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원인 규명
(9/7)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평가 경로를 vLLM 엔진으로 전환(400건 15시간 → 15분)해 6개 실험을 동일 조건으로 재측정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깨끗한 셋은 85.6~86.1%에 모이고 오염된 둘만 하락 → FATURA2 4,000행이 "표는 HTML로" 지시를 받고도 정답에 표 없음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20" b="1" dirty="0">
                          <a:solidFill>
                            <a:srgbClr val="2F7D8C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exp_015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원본 이미지에서 표 복원 (exp_009로 라벨링 + SUB_TOTAL 검산) 3,334행 유지 · 검산 실패 666 제외 → 40,010행 · 오염 4,139 → 139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2E7D5B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9/14 파싱: 견적서 표 100/100 · 인보이스 100/100 — exp_009 수준 회복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EDF3F4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20" b="1" dirty="0">
                          <a:solidFill>
                            <a:srgbClr val="2F7D8C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exp_014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exp_015에서 PubTabNet(CC BY-NC-SA) 5,461행 제외 → 34,549행 (상용 납품용)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2E7D5B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9/14 파싱: 견적서 100 · 인보이스 97 · 영수증 88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EDF3F4"/>
                    </a:solidFill>
                  </a:tcPr>
                </a:tc>
              </a:tr>
            </a:tbl>
          </a:graphicData>
        </a:graphic>
      </p:graphicFrame>
      <p:pic>
        <p:nvPicPr>
          <p:cNvPr id="104" name="Picture 10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3951" y="5000000"/>
            <a:ext cx="2545353" cy="1300000"/>
          </a:xfrm>
          <a:prstGeom prst="rect">
            <a:avLst/>
          </a:prstGeom>
        </p:spPr>
      </p:pic>
      <p:pic>
        <p:nvPicPr>
          <p:cNvPr id="105" name="Picture 10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53951" y="5000000"/>
            <a:ext cx="3868292" cy="13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53952" y="414340"/>
            <a:ext cx="408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chemeClr val="bg2">
                    <a:lumMod val="50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Document Studio VLM</a:t>
            </a:r>
          </a:p>
        </p:txBody>
      </p:sp>
      <p:sp>
        <p:nvSpPr>
          <p:cNvPr id="8" name="Title"/>
          <p:cNvSpPr txBox="1"/>
          <p:nvPr/>
        </p:nvSpPr>
        <p:spPr>
          <a:xfrm>
            <a:off x="553951" y="757240"/>
            <a:ext cx="10900000" cy="4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kumimoji="1" lang="ko-KR" altLang="en-US" sz="2800" b="1" i="0" dirty="0">
                <a:solidFill>
                  <a:srgbClr val="14141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 현황 ① — 원본 데이터셋 카탈로그</a:t>
            </a:r>
          </a:p>
        </p:txBody>
      </p:sp>
      <p:sp>
        <p:nvSpPr>
          <p:cNvPr id="9" name="Subtitle"/>
          <p:cNvSpPr txBox="1"/>
          <p:nvPr/>
        </p:nvSpPr>
        <p:spPr>
          <a:xfrm>
            <a:off x="553951" y="1268000"/>
            <a:ext cx="10900000" cy="2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kumimoji="1" lang="ko-KR" altLang="en-US" sz="1200" b="0" i="0" dirty="0">
                <a:solidFill>
                  <a:srgbClr val="98A6AD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25종 · 보유 94,840행 → 실제 활용 39,402행</a:t>
            </a:r>
          </a:p>
        </p:txBody>
      </p:sp>
      <p:pic>
        <p:nvPicPr>
          <p:cNvPr id="5" name="Saltlu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6133" y="6434019"/>
            <a:ext cx="738350" cy="197701"/>
          </a:xfrm>
          <a:prstGeom prst="rect">
            <a:avLst/>
          </a:prstGeom>
        </p:spPr>
      </p:pic>
      <p:pic>
        <p:nvPicPr>
          <p:cNvPr id="101" name="Picture 10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3951" y="1600000"/>
            <a:ext cx="5000000" cy="2872938"/>
          </a:xfrm>
          <a:prstGeom prst="rect">
            <a:avLst/>
          </a:prstGeom>
        </p:spPr>
      </p:pic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853951" y="1600000"/>
          <a:ext cx="5802347" cy="2590000"/>
        </p:xfrm>
        <a:graphic>
          <a:graphicData uri="http://schemas.openxmlformats.org/drawingml/2006/table">
            <a:tbl>
              <a:tblPr/>
              <a:tblGrid>
                <a:gridCol w="1508610"/>
                <a:gridCol w="1160469"/>
                <a:gridCol w="3133267"/>
              </a:tblGrid>
              <a:tr h="280000"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2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구분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2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보유 → 활용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2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비고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2F7D8C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사내 실문서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1,101 → 547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고유 이미지 455장이 전부 · 평가셋 92장과 md5 대조 누수 0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D97706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자체 생성 — 영수증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32,403 → 10,229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4열 표 고정 · 어휘 105~173종으로 단조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2F7D8C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자체 생성 — 서식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28,000 → 8,916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서식 12~18종 · 어휘 6.8k~12.3k · 시드 중복 S17 제외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5A6B74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public 상용 가능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9,608 → 6,364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CORD · FATURA2 · donut · kogovdoc (CC BY-4.0 · MIT)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D97706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public 미확인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16,130 → 7,885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KorIE · AI-Hub — 제3자 제공 제한 → 업로드 보류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C0392B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public NC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5,461 → 5,461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PubTabNet — exp_014에서 제외 · 대체 FinTabNet 3,000 확보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C0392B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격리·제외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1,737 → 0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라이선스 미확인 — 섞이면 그 체크포인트 상용 불가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3" name="Card 103"/>
          <p:cNvSpPr/>
          <p:nvPr/>
        </p:nvSpPr>
        <p:spPr>
          <a:xfrm>
            <a:off x="553951" y="4700000"/>
            <a:ext cx="11102347" cy="760000"/>
          </a:xfrm>
          <a:prstGeom prst="roundRect">
            <a:avLst>
              <a:gd name="adj" fmla="val 6000"/>
            </a:avLst>
          </a:prstGeom>
          <a:solidFill>
            <a:srgbClr val="EDF3F4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ko-KR"/>
          </a:p>
        </p:txBody>
      </p:sp>
      <p:sp>
        <p:nvSpPr>
          <p:cNvPr id="104" name="TextBox 104"/>
          <p:cNvSpPr txBox="1"/>
          <p:nvPr/>
        </p:nvSpPr>
        <p:spPr>
          <a:xfrm>
            <a:off x="873951" y="4900000"/>
            <a:ext cx="10462347" cy="4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ko-KR" altLang="en-US" sz="1200" b="1" i="0" dirty="0">
                <a:solidFill>
                  <a:srgbClr val="2F7D8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보유하고도 안 쓰는 38,000행의 80%가 영수증입니다. </a:t>
            </a:r>
            <a:r>
              <a:rPr kumimoji="1" lang="ko-KR" altLang="en-US" sz="1200" b="0" i="0" dirty="0">
                <a:solidFill>
                  <a:srgbClr val="5A6B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exp_009(영수증 34k)와 exp_010(9.9k)의 SS가 동점이라 늘릴 근거가 없습니다. 늘릴 값어치가 있는 건 서식 계열 5,084행뿐입니다.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553951" y="5620000"/>
            <a:ext cx="11102347" cy="7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18745" indent="-118745"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kumimoji="1" lang="ko-KR" altLang="en-US" sz="950" b="0" i="0" dirty="0">
                <a:solidFill>
                  <a:srgbClr val="2F7D8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kumimoji="1" lang="ko-KR" altLang="en-US" sz="950" b="1" i="0" dirty="0">
                <a:solidFill>
                  <a:srgbClr val="1A2429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데이터 관리 체계</a:t>
            </a:r>
            <a:r>
              <a:rPr kumimoji="1" lang="ko-KR" altLang="en-US" sz="950" b="0" i="0" dirty="0">
                <a:solidFill>
                  <a:srgbClr val="5A6B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텍소노미 v1.1 — manifest 27종 · registry 60배치 · doc_id 42,580개 중복 0 · 라이선스 3분류(상업 32,982 / 미확인 8,179 / 연구 1,419) · guard_license.py 통과가 릴리즈 조건 · 오염 배치는 revoked 전이로 재유입 차단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53952" y="414340"/>
            <a:ext cx="408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chemeClr val="bg2">
                    <a:lumMod val="50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Document Studio VLM</a:t>
            </a:r>
          </a:p>
        </p:txBody>
      </p:sp>
      <p:sp>
        <p:nvSpPr>
          <p:cNvPr id="8" name="Title"/>
          <p:cNvSpPr txBox="1"/>
          <p:nvPr/>
        </p:nvSpPr>
        <p:spPr>
          <a:xfrm>
            <a:off x="553951" y="757240"/>
            <a:ext cx="10900000" cy="4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kumimoji="1" lang="ko-KR" altLang="en-US" sz="2800" b="1" i="0" dirty="0">
                <a:solidFill>
                  <a:srgbClr val="14141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 현황 ② — 학습셋 버전별 구성</a:t>
            </a:r>
          </a:p>
        </p:txBody>
      </p:sp>
      <p:sp>
        <p:nvSpPr>
          <p:cNvPr id="9" name="Subtitle"/>
          <p:cNvSpPr txBox="1"/>
          <p:nvPr/>
        </p:nvSpPr>
        <p:spPr>
          <a:xfrm>
            <a:off x="553951" y="1268000"/>
            <a:ext cx="10900000" cy="2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kumimoji="1" lang="ko-KR" altLang="en-US" sz="1200" b="0" i="0" dirty="0">
                <a:solidFill>
                  <a:srgbClr val="98A6AD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exp_003 → exp_017까지 학습셋이 어떻게 바뀌어 왔는가</a:t>
            </a:r>
          </a:p>
        </p:txBody>
      </p:sp>
      <p:pic>
        <p:nvPicPr>
          <p:cNvPr id="5" name="Saltlu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6133" y="6434019"/>
            <a:ext cx="738350" cy="197701"/>
          </a:xfrm>
          <a:prstGeom prst="rect">
            <a:avLst/>
          </a:prstGeom>
        </p:spPr>
      </p:pic>
      <p:pic>
        <p:nvPicPr>
          <p:cNvPr id="101" name="Picture 10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3951" y="1600000"/>
            <a:ext cx="5539437" cy="2600000"/>
          </a:xfrm>
          <a:prstGeom prst="rect">
            <a:avLst/>
          </a:prstGeom>
        </p:spPr>
      </p:pic>
      <p:pic>
        <p:nvPicPr>
          <p:cNvPr id="102" name="Picture 10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53951" y="1600000"/>
            <a:ext cx="2812905" cy="1250000"/>
          </a:xfrm>
          <a:prstGeom prst="rect">
            <a:avLst/>
          </a:prstGeom>
        </p:spPr>
      </p:pic>
      <p:pic>
        <p:nvPicPr>
          <p:cNvPr id="103" name="Picture 10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53951" y="2950000"/>
            <a:ext cx="2783938" cy="1450000"/>
          </a:xfrm>
          <a:prstGeom prst="rect">
            <a:avLst/>
          </a:prstGeom>
        </p:spPr>
      </p:pic>
      <p:sp>
        <p:nvSpPr>
          <p:cNvPr id="104" name="Card 104"/>
          <p:cNvSpPr/>
          <p:nvPr/>
        </p:nvSpPr>
        <p:spPr>
          <a:xfrm>
            <a:off x="553951" y="4500000"/>
            <a:ext cx="11102347" cy="900000"/>
          </a:xfrm>
          <a:prstGeom prst="roundRect">
            <a:avLst>
              <a:gd name="adj" fmla="val 6000"/>
            </a:avLst>
          </a:prstGeom>
          <a:solidFill>
            <a:srgbClr val="EDF3F4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ko-KR"/>
          </a:p>
        </p:txBody>
      </p:sp>
      <p:sp>
        <p:nvSpPr>
          <p:cNvPr id="105" name="TextBox 105"/>
          <p:cNvSpPr txBox="1"/>
          <p:nvPr/>
        </p:nvSpPr>
        <p:spPr>
          <a:xfrm>
            <a:off x="873951" y="4680000"/>
            <a:ext cx="10462347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ko-KR" altLang="en-US" sz="1150" b="1" i="0" dirty="0">
                <a:solidFill>
                  <a:srgbClr val="2F7D8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exp_016(다음 학습셋 초안) 40,852행 — </a:t>
            </a:r>
            <a:r>
              <a:rPr kumimoji="1" lang="ko-KR" altLang="en-US" sz="1150" b="0" i="0" dirty="0">
                <a:solidFill>
                  <a:srgbClr val="5A6B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출처는 생성 51.1% / public 46.2% / 사내 실문서 2.7%. 도메인은 영수증 42.0%(평가 25%) · 무역·금융 서식 21.8%(평가 50%) · 학술 표·공공행정 24.4%(평가 0%) · </a:t>
            </a:r>
            <a:r>
              <a:rPr kumimoji="1" lang="ko-KR" altLang="en-US" sz="1150" b="1" i="0" dirty="0">
                <a:solidFill>
                  <a:srgbClr val="C0392B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견적 계열 2.4%(평가 25%)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553951" y="5560000"/>
            <a:ext cx="11102347" cy="7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18745" indent="-118745"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kumimoji="1" lang="ko-KR" altLang="en-US" sz="1000" b="0" i="0" dirty="0">
                <a:solidFill>
                  <a:srgbClr val="2F7D8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kumimoji="1" lang="ko-KR" altLang="en-US" sz="1000" b="1" i="0" dirty="0">
                <a:solidFill>
                  <a:srgbClr val="1A2429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exp_017 재배분 (빌드 중) → 34,421행</a:t>
            </a:r>
            <a:r>
              <a:rPr kumimoji="1" lang="ko-KR" altLang="en-US" sz="1000" b="0" i="0" dirty="0">
                <a:solidFill>
                  <a:srgbClr val="5A6B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영수증 생성 크롭 −6,000 · PubTabNet −5,461 · FinTabNet +3,000 · northwind 발주서 +830(유일한 견적 계열 public) · 긴 표 +1,200 → 생성 45% / public 51%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53952" y="414340"/>
            <a:ext cx="408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chemeClr val="bg2">
                    <a:lumMod val="50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Document Studio VLM</a:t>
            </a:r>
          </a:p>
        </p:txBody>
      </p:sp>
      <p:sp>
        <p:nvSpPr>
          <p:cNvPr id="8" name="Title"/>
          <p:cNvSpPr txBox="1"/>
          <p:nvPr/>
        </p:nvSpPr>
        <p:spPr>
          <a:xfrm>
            <a:off x="553951" y="757240"/>
            <a:ext cx="10900000" cy="4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kumimoji="1" lang="ko-KR" altLang="en-US" sz="2800" b="1" i="0" dirty="0">
                <a:solidFill>
                  <a:srgbClr val="14141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 현황 ③ — 평가 데이터와 품질 사고 이력</a:t>
            </a:r>
          </a:p>
        </p:txBody>
      </p:sp>
      <p:pic>
        <p:nvPicPr>
          <p:cNvPr id="5" name="Saltlu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6133" y="6434019"/>
            <a:ext cx="738350" cy="197701"/>
          </a:xfrm>
          <a:prstGeom prst="rect">
            <a:avLst/>
          </a:prstGeom>
        </p:spPr>
      </p:pic>
      <p:sp>
        <p:nvSpPr>
          <p:cNvPr id="101" name="TextBox 101"/>
          <p:cNvSpPr txBox="1"/>
          <p:nvPr/>
        </p:nvSpPr>
        <p:spPr>
          <a:xfrm>
            <a:off x="553951" y="1600000"/>
            <a:ext cx="5000000" cy="3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40"/>
              </a:spcAft>
              <a:buNone/>
            </a:pPr>
            <a:r>
              <a:rPr kumimoji="1" lang="ko-KR" altLang="en-US" sz="1300" b="1" i="0" dirty="0">
                <a:solidFill>
                  <a:srgbClr val="1A2429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평가 · 검증 데이터</a:t>
            </a:r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53951" y="1960000"/>
          <a:ext cx="5000000" cy="1880000"/>
        </p:xfrm>
        <a:graphic>
          <a:graphicData uri="http://schemas.openxmlformats.org/drawingml/2006/table">
            <a:tbl>
              <a:tblPr/>
              <a:tblGrid>
                <a:gridCol w="1200000"/>
                <a:gridCol w="800000"/>
                <a:gridCol w="600000"/>
                <a:gridCol w="2400000"/>
              </a:tblGrid>
              <a:tr h="280000"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2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이름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2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역할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2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수량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2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정답 출처 · 비고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eval_crops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5A6B7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자체 평가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2F7D8C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921 / 98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사람 검수(사내 92장) · exp_001~004는 8장 제외본 978건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SS 평가셋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5A6B7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고객 기준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2F7D8C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400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GPT 생성 + 골든셋 100건 사람 검증 · 파싱 정답은 없음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val_4dom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5A6B7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학습 감시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2F7D8C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240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eval_loss용 · 성능 지표 아님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ctg_val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5A6B7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검증 전용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2F7D8C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400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시드 90001 — 학습셋과 시드 분리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3" name="TextBox 103"/>
          <p:cNvSpPr txBox="1"/>
          <p:nvPr/>
        </p:nvSpPr>
        <p:spPr>
          <a:xfrm>
            <a:off x="5953951" y="1600000"/>
            <a:ext cx="5702347" cy="3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40"/>
              </a:spcAft>
              <a:buNone/>
            </a:pPr>
            <a:r>
              <a:rPr kumimoji="1" lang="ko-KR" altLang="en-US" sz="1300" b="1" i="0" dirty="0">
                <a:solidFill>
                  <a:srgbClr val="C0392B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데이터 품질 사고와 조치 — 5주간 5건</a:t>
            </a:r>
          </a:p>
        </p:txBody>
      </p:sp>
      <p:graphicFrame>
        <p:nvGraphicFramePr>
          <p:cNvPr id="104" name="Table 104"/>
          <p:cNvGraphicFramePr>
            <a:graphicFrameLocks noGrp="1"/>
          </p:cNvGraphicFramePr>
          <p:nvPr/>
        </p:nvGraphicFramePr>
        <p:xfrm>
          <a:off x="5953951" y="1960000"/>
          <a:ext cx="5702347" cy="2280000"/>
        </p:xfrm>
        <a:graphic>
          <a:graphicData uri="http://schemas.openxmlformats.org/drawingml/2006/table">
            <a:tbl>
              <a:tblPr/>
              <a:tblGrid>
                <a:gridCol w="513211"/>
                <a:gridCol w="2280938"/>
                <a:gridCol w="741305"/>
                <a:gridCol w="2166891"/>
              </a:tblGrid>
              <a:tr h="280000"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2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시점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2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사고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2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규모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2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조치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1" dirty="0">
                          <a:solidFill>
                            <a:srgbClr val="5A6B74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8/20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학습 정답에 HTML 태그 혼입 (텍스트 크롭인데 &lt;td&gt; 답)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1" dirty="0">
                          <a:solidFill>
                            <a:srgbClr val="C0392B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1,757행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BED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태그 제거 904 · 삭제 853 → exp_007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1" dirty="0">
                          <a:solidFill>
                            <a:srgbClr val="5A6B74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8/20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합성 생성기에 평가셋 브랜드·지점 포함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1" dirty="0">
                          <a:solidFill>
                            <a:srgbClr val="C0392B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생성기 1곳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BED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평가셋 브랜드 제외 재생성 → exp_009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1" dirty="0">
                          <a:solidFill>
                            <a:srgbClr val="5A6B74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8/31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합성 서식 폰트 글리프 누락 — 이미지에 없는 내용이 정답에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1" dirty="0">
                          <a:solidFill>
                            <a:srgbClr val="C0392B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각 600여 건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BED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전량 폐기·재생성 · 폰트 자동 검증 + 잉크 밀도 검사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1" dirty="0">
                          <a:solidFill>
                            <a:srgbClr val="5A6B74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9/3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자체 생성 서식(S17)이 선임 제공분(S18)과 시드 중복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1" dirty="0">
                          <a:solidFill>
                            <a:srgbClr val="C0392B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5,000행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BED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S17 제외, S18 유지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1" dirty="0">
                          <a:solidFill>
                            <a:srgbClr val="5A6B74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9/7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FATURA2 지시-정답 불일치 (표 요구 · 정답에 표 없음)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1" dirty="0">
                          <a:solidFill>
                            <a:srgbClr val="C0392B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4,000행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BED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 복원 3,334 · 제외 666 · registry revoked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5" name="Card 105"/>
          <p:cNvSpPr/>
          <p:nvPr/>
        </p:nvSpPr>
        <p:spPr>
          <a:xfrm>
            <a:off x="553951" y="4900000"/>
            <a:ext cx="11102347" cy="1000000"/>
          </a:xfrm>
          <a:prstGeom prst="roundRect">
            <a:avLst>
              <a:gd name="adj" fmla="val 6000"/>
            </a:avLst>
          </a:prstGeom>
          <a:solidFill>
            <a:srgbClr val="EDF3F4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ko-KR"/>
          </a:p>
        </p:txBody>
      </p:sp>
      <p:sp>
        <p:nvSpPr>
          <p:cNvPr id="106" name="TextBox 106"/>
          <p:cNvSpPr txBox="1"/>
          <p:nvPr/>
        </p:nvSpPr>
        <p:spPr>
          <a:xfrm>
            <a:off x="873951" y="5100000"/>
            <a:ext cx="10462347" cy="6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ko-KR" altLang="en-US" sz="1150" b="1" i="0" dirty="0">
                <a:solidFill>
                  <a:srgbClr val="2F7D8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재발 방지에 넣은 것 — </a:t>
            </a:r>
            <a:r>
              <a:rPr kumimoji="1" lang="ko-KR" altLang="en-US" sz="1150" b="0" i="0" dirty="0">
                <a:solidFill>
                  <a:srgbClr val="5A6B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① 이미지 md5 전수 대조로 평가셋 누수 0 확인   ② 등록 시 "지시문이 표를 요구하는데 정답에 &lt;tr&gt;이 없음" 자동 검사   ③ 공개 데이터 도입 시 "원본 데이터셋의 과제 ↔ 우리 용도" 일치 확인 항목 신설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53952" y="414340"/>
            <a:ext cx="408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chemeClr val="bg2">
                    <a:lumMod val="50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Document Studio VLM</a:t>
            </a:r>
          </a:p>
        </p:txBody>
      </p:sp>
      <p:sp>
        <p:nvSpPr>
          <p:cNvPr id="8" name="Title"/>
          <p:cNvSpPr txBox="1"/>
          <p:nvPr/>
        </p:nvSpPr>
        <p:spPr>
          <a:xfrm>
            <a:off x="553951" y="757240"/>
            <a:ext cx="10900000" cy="4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kumimoji="1" lang="ko-KR" altLang="en-US" sz="2800" b="1" i="0" dirty="0">
                <a:solidFill>
                  <a:srgbClr val="14141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학습 결과 — SS 평가셋 케이스 대조</a:t>
            </a:r>
          </a:p>
        </p:txBody>
      </p:sp>
      <p:sp>
        <p:nvSpPr>
          <p:cNvPr id="9" name="Subtitle"/>
          <p:cNvSpPr txBox="1"/>
          <p:nvPr/>
        </p:nvSpPr>
        <p:spPr>
          <a:xfrm>
            <a:off x="553951" y="1268000"/>
            <a:ext cx="10900000" cy="2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kumimoji="1" lang="ko-KR" altLang="en-US" sz="1200" b="0" i="0" dirty="0">
                <a:solidFill>
                  <a:srgbClr val="98A6AD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유형별 대표 4장(정확도 중앙값 부근) + 극단 케이스 3장</a:t>
            </a:r>
          </a:p>
        </p:txBody>
      </p:sp>
      <p:pic>
        <p:nvPicPr>
          <p:cNvPr id="5" name="Saltlu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6133" y="6434019"/>
            <a:ext cx="738350" cy="197701"/>
          </a:xfrm>
          <a:prstGeom prst="rect">
            <a:avLst/>
          </a:prstGeom>
        </p:spPr>
      </p:pic>
      <p:sp>
        <p:nvSpPr>
          <p:cNvPr id="101" name="TextBox 101"/>
          <p:cNvSpPr txBox="1"/>
          <p:nvPr/>
        </p:nvSpPr>
        <p:spPr>
          <a:xfrm>
            <a:off x="553951" y="1600000"/>
            <a:ext cx="6400000" cy="3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40"/>
              </a:spcAft>
              <a:buNone/>
            </a:pPr>
            <a:r>
              <a:rPr kumimoji="1" lang="ko-KR" altLang="en-US" sz="1300" b="1" i="0" dirty="0">
                <a:solidFill>
                  <a:srgbClr val="1A2429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SS 400건 · 모델 출력 vs 정답 — 케이스 7종 (exp_004)</a:t>
            </a:r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53951" y="1960000"/>
          <a:ext cx="6400000" cy="2380000"/>
        </p:xfrm>
        <a:graphic>
          <a:graphicData uri="http://schemas.openxmlformats.org/drawingml/2006/table">
            <a:tbl>
              <a:tblPr/>
              <a:tblGrid>
                <a:gridCol w="1024000"/>
                <a:gridCol w="1280000"/>
                <a:gridCol w="768000"/>
                <a:gridCol w="3328000"/>
              </a:tblGrid>
              <a:tr h="280000"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2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케이스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2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문서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2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정확도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2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보여주는 것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영수증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5A6B7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receipt33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141414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0.933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15/17 일치 — 주소 부분 일치, 합계 누락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견적서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5A6B7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quotation-15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141414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0.914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42/46 — 표 11행 전부 일치, 머리말 4필드 누락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계산서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5A6B7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invoice-58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141414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0.838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19/25 — 긴 서술 필드에서 표기·재표현 차이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명세서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5A6B7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bill-14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141414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0.864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31/36 — $↔USD, 날짜 표기 정규화 차이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잘된 케이스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5A6B7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quotation-47 (exp_009)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2E7D5B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1.000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 11/11 · 전 필드 일치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실패 ①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5A6B7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bill-50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C0392B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0.741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BED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칸 안에 여러 줄로 접힌 주소 블록 — 과다 추출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실패 ②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5A6B7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receipt01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C0392B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0.639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BED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298px 저해상도 오독 — 3배 확대 크롭 첨부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03" name="Picture 10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53951" y="1600000"/>
            <a:ext cx="4302347" cy="2823415"/>
          </a:xfrm>
          <a:prstGeom prst="rect">
            <a:avLst/>
          </a:prstGeom>
        </p:spPr>
      </p:pic>
      <p:sp>
        <p:nvSpPr>
          <p:cNvPr id="104" name="TextBox 104"/>
          <p:cNvSpPr txBox="1"/>
          <p:nvPr/>
        </p:nvSpPr>
        <p:spPr>
          <a:xfrm>
            <a:off x="7353951" y="4650000"/>
            <a:ext cx="4302347" cy="14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40"/>
              </a:spcAft>
              <a:buNone/>
            </a:pPr>
            <a:r>
              <a:rPr kumimoji="1" lang="ko-KR" altLang="en-US" sz="1150" b="1" i="0" dirty="0">
                <a:solidFill>
                  <a:srgbClr val="1A2429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표 파싱 ↔ 답변 정확도</a:t>
            </a:r>
          </a:p>
          <a:p>
            <a:pPr marL="118745" indent="-118745" algn="l">
              <a:lnSpc>
                <a:spcPct val="112000"/>
              </a:lnSpc>
              <a:spcBef>
                <a:spcPts val="0"/>
              </a:spcBef>
              <a:spcAft>
                <a:spcPts val="230"/>
              </a:spcAft>
              <a:buNone/>
            </a:pPr>
            <a:r>
              <a:rPr kumimoji="1" lang="ko-KR" altLang="en-US" sz="900" b="0" i="0" dirty="0">
                <a:solidFill>
                  <a:srgbClr val="2F7D8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kumimoji="1" lang="ko-KR" altLang="en-US" sz="900" b="0" i="0" dirty="0">
                <a:solidFill>
                  <a:srgbClr val="5A6B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표 정확도와 SS 총점 상관 r = +0.998</a:t>
            </a:r>
          </a:p>
          <a:p>
            <a:pPr marL="118745" indent="-118745" algn="l">
              <a:lnSpc>
                <a:spcPct val="112000"/>
              </a:lnSpc>
              <a:spcBef>
                <a:spcPts val="0"/>
              </a:spcBef>
              <a:spcAft>
                <a:spcPts val="230"/>
              </a:spcAft>
              <a:buNone/>
            </a:pPr>
            <a:r>
              <a:rPr kumimoji="1" lang="ko-KR" altLang="en-US" sz="900" b="0" i="0" dirty="0">
                <a:solidFill>
                  <a:srgbClr val="2F7D8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kumimoji="1" lang="ko-KR" altLang="en-US" sz="900" b="0" i="0" dirty="0">
                <a:solidFill>
                  <a:srgbClr val="5A6B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exp_009 → 013 하락 −0.135 중 Table 필드가 −0.242</a:t>
            </a:r>
          </a:p>
          <a:p>
            <a:pPr marL="118745" indent="-118745" algn="l">
              <a:lnSpc>
                <a:spcPct val="112000"/>
              </a:lnSpc>
              <a:spcBef>
                <a:spcPts val="0"/>
              </a:spcBef>
              <a:spcAft>
                <a:spcPts val="230"/>
              </a:spcAft>
              <a:buNone/>
            </a:pPr>
            <a:r>
              <a:rPr kumimoji="1" lang="ko-KR" altLang="en-US" sz="900" b="0" i="0" dirty="0">
                <a:solidFill>
                  <a:srgbClr val="2F7D8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kumimoji="1" lang="ko-KR" altLang="en-US" sz="900" b="0" i="0" dirty="0">
                <a:solidFill>
                  <a:srgbClr val="5A6B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KIE 추출기 교체 영향은 학습 데이터 차이의 1/15</a:t>
            </a:r>
          </a:p>
        </p:txBody>
      </p:sp>
      <p:sp>
        <p:nvSpPr>
          <p:cNvPr id="105" name="Card 105"/>
          <p:cNvSpPr/>
          <p:nvPr/>
        </p:nvSpPr>
        <p:spPr>
          <a:xfrm>
            <a:off x="553951" y="4640000"/>
            <a:ext cx="6400000" cy="700000"/>
          </a:xfrm>
          <a:prstGeom prst="roundRect">
            <a:avLst>
              <a:gd name="adj" fmla="val 6000"/>
            </a:avLst>
          </a:prstGeom>
          <a:solidFill>
            <a:srgbClr val="EDF3F4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ko-KR"/>
          </a:p>
        </p:txBody>
      </p:sp>
      <p:sp>
        <p:nvSpPr>
          <p:cNvPr id="106" name="TextBox 106"/>
          <p:cNvSpPr txBox="1"/>
          <p:nvPr/>
        </p:nvSpPr>
        <p:spPr>
          <a:xfrm>
            <a:off x="873951" y="4840000"/>
            <a:ext cx="5760000" cy="3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ko-KR" altLang="en-US" sz="1100" b="1" i="0" dirty="0">
                <a:solidFill>
                  <a:srgbClr val="2F7D8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카테고리별 (exp_004 · 원본 대비) — </a:t>
            </a:r>
            <a:r>
              <a:rPr kumimoji="1" lang="ko-KR" altLang="en-US" sz="1100" b="0" i="0" dirty="0">
                <a:solidFill>
                  <a:srgbClr val="5A6B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영수증 93.5(+0.9) · 견적서 90.4(+1.9) · 계산서 81.1(+2.0) · </a:t>
            </a:r>
            <a:r>
              <a:rPr kumimoji="1" lang="ko-KR" altLang="en-US" sz="1100" b="1" i="0" dirty="0">
                <a:solidFill>
                  <a:srgbClr val="C0392B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명세서 86.8(−0.6, 유일한 하락)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553951" y="5480000"/>
            <a:ext cx="6400000" cy="8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18745" indent="-118745"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kumimoji="1" lang="ko-KR" altLang="en-US" sz="900" b="0" i="0" dirty="0">
                <a:solidFill>
                  <a:srgbClr val="2F7D8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kumimoji="1" lang="ko-KR" altLang="en-US" sz="900" b="1" i="0" dirty="0">
                <a:solidFill>
                  <a:srgbClr val="1A2429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낱개 자산</a:t>
            </a:r>
            <a:r>
              <a:rPr kumimoji="1" lang="ko-KR" altLang="en-US" sz="900" b="0" i="0" dirty="0">
                <a:solidFill>
                  <a:srgbClr val="5A6B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assets/slide11_학습결과_SS/ — 케이스별 원본 문서 · 정답 KIE · 모델 KIE · 대조표 · 파싱 원문 (발표 시 확대)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53952" y="414340"/>
            <a:ext cx="408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chemeClr val="bg2">
                    <a:lumMod val="50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Document Studio VLM</a:t>
            </a:r>
          </a:p>
        </p:txBody>
      </p:sp>
      <p:sp>
        <p:nvSpPr>
          <p:cNvPr id="8" name="Title"/>
          <p:cNvSpPr txBox="1"/>
          <p:nvPr/>
        </p:nvSpPr>
        <p:spPr>
          <a:xfrm>
            <a:off x="553951" y="757240"/>
            <a:ext cx="10900000" cy="4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kumimoji="1" lang="ko-KR" altLang="en-US" sz="2800" b="1" i="0" dirty="0">
                <a:solidFill>
                  <a:srgbClr val="14141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CER이 안 내려가는 이유 ① — 평균은 꼬리가 만든다</a:t>
            </a:r>
          </a:p>
        </p:txBody>
      </p:sp>
      <p:sp>
        <p:nvSpPr>
          <p:cNvPr id="9" name="Subtitle"/>
          <p:cNvSpPr txBox="1"/>
          <p:nvPr/>
        </p:nvSpPr>
        <p:spPr>
          <a:xfrm>
            <a:off x="553951" y="1268000"/>
            <a:ext cx="10900000" cy="2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kumimoji="1" lang="ko-KR" altLang="en-US" sz="1200" b="0" i="0" dirty="0">
                <a:solidFill>
                  <a:srgbClr val="98A6AD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자체 평가셋 921 텍스트 크롭 × 9개 모델을 크롭 단위로 재분석 (2026-09-14)</a:t>
            </a:r>
          </a:p>
        </p:txBody>
      </p:sp>
      <p:pic>
        <p:nvPicPr>
          <p:cNvPr id="5" name="Saltlu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6133" y="6434019"/>
            <a:ext cx="738350" cy="197701"/>
          </a:xfrm>
          <a:prstGeom prst="rect">
            <a:avLst/>
          </a:prstGeom>
        </p:spPr>
      </p:pic>
      <p:pic>
        <p:nvPicPr>
          <p:cNvPr id="101" name="Picture 10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3951" y="1600000"/>
            <a:ext cx="6200000" cy="2555520"/>
          </a:xfrm>
          <a:prstGeom prst="rect">
            <a:avLst/>
          </a:prstGeom>
        </p:spPr>
      </p:pic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7053951" y="1600000"/>
          <a:ext cx="4602347" cy="1780000"/>
        </p:xfrm>
        <a:graphic>
          <a:graphicData uri="http://schemas.openxmlformats.org/drawingml/2006/table">
            <a:tbl>
              <a:tblPr/>
              <a:tblGrid>
                <a:gridCol w="1656844"/>
                <a:gridCol w="736375"/>
                <a:gridCol w="736375"/>
                <a:gridCol w="736375"/>
                <a:gridCol w="736375"/>
              </a:tblGrid>
              <a:tr h="280000"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/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base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exp_004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exp_009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exp_011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평균 CER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0.139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0.107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0.116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0.110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중앙값 CER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2F7D8C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0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2F7D8C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0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2F7D8C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0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2F7D8C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0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EDF3F4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완전일치 크롭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528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587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577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591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CER &gt; 0.3 크롭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160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107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107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꼬리의 평균 기여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77%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74%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76%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75%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3" name="TextBox 103"/>
          <p:cNvSpPr txBox="1"/>
          <p:nvPr/>
        </p:nvSpPr>
        <p:spPr>
          <a:xfrm>
            <a:off x="7053951" y="3520000"/>
            <a:ext cx="4602347" cy="9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18745" indent="-118745" algn="l">
              <a:lnSpc>
                <a:spcPct val="112000"/>
              </a:lnSpc>
              <a:spcBef>
                <a:spcPts val="0"/>
              </a:spcBef>
              <a:spcAft>
                <a:spcPts val="230"/>
              </a:spcAft>
              <a:buNone/>
            </a:pPr>
            <a:r>
              <a:rPr kumimoji="1" lang="ko-KR" altLang="en-US" sz="900" b="0" i="0" dirty="0">
                <a:solidFill>
                  <a:srgbClr val="2F7D8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kumimoji="1" lang="ko-KR" altLang="en-US" sz="900" b="0" i="0" dirty="0">
                <a:solidFill>
                  <a:srgbClr val="5A6B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중앙값은 모든 실험에서 0 — 크롭의 64%는 이미 완벽</a:t>
            </a:r>
          </a:p>
          <a:p>
            <a:pPr marL="118745" indent="-118745" algn="l">
              <a:lnSpc>
                <a:spcPct val="112000"/>
              </a:lnSpc>
              <a:spcBef>
                <a:spcPts val="0"/>
              </a:spcBef>
              <a:spcAft>
                <a:spcPts val="230"/>
              </a:spcAft>
              <a:buNone/>
            </a:pPr>
            <a:r>
              <a:rPr kumimoji="1" lang="ko-KR" altLang="en-US" sz="900" b="0" i="0" dirty="0">
                <a:solidFill>
                  <a:srgbClr val="2F7D8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kumimoji="1" lang="ko-KR" altLang="en-US" sz="900" b="0" i="0" dirty="0">
                <a:solidFill>
                  <a:srgbClr val="5A6B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 0.11의 3/4를 상위 12%(107건)가 만든다</a:t>
            </a:r>
          </a:p>
        </p:txBody>
      </p:sp>
      <p:pic>
        <p:nvPicPr>
          <p:cNvPr id="104" name="Picture 10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3951" y="4400000"/>
            <a:ext cx="3660606" cy="1400000"/>
          </a:xfrm>
          <a:prstGeom prst="rect">
            <a:avLst/>
          </a:prstGeom>
        </p:spPr>
      </p:pic>
      <p:sp>
        <p:nvSpPr>
          <p:cNvPr id="105" name="Card 105"/>
          <p:cNvSpPr/>
          <p:nvPr/>
        </p:nvSpPr>
        <p:spPr>
          <a:xfrm>
            <a:off x="7053951" y="4400000"/>
            <a:ext cx="4602347" cy="1400000"/>
          </a:xfrm>
          <a:prstGeom prst="roundRect">
            <a:avLst>
              <a:gd name="adj" fmla="val 6000"/>
            </a:avLst>
          </a:prstGeom>
          <a:solidFill>
            <a:srgbClr val="EDF3F4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ko-KR"/>
          </a:p>
        </p:txBody>
      </p:sp>
      <p:sp>
        <p:nvSpPr>
          <p:cNvPr id="106" name="TextBox 106"/>
          <p:cNvSpPr txBox="1"/>
          <p:nvPr/>
        </p:nvSpPr>
        <p:spPr>
          <a:xfrm>
            <a:off x="7373951" y="4600000"/>
            <a:ext cx="3962347" cy="10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ko-KR" altLang="en-US" sz="1100" b="1" i="0" dirty="0">
                <a:solidFill>
                  <a:srgbClr val="2F7D8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exp_004 → exp_011 크롭별 변화
</a:t>
            </a:r>
            <a:r>
              <a:rPr kumimoji="1" lang="ko-KR" altLang="en-US" sz="1050" b="0" i="0" dirty="0">
                <a:solidFill>
                  <a:srgbClr val="5A6B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개선 70 · 악화 81 · 변화 없음 770. 개선분 합 13.8 vs 악화분 합 16.7로 상쇄됩니다. 학습셋 변경은 나머지 845건을 노이즈 수준으로 흔들 뿐, 평균을 끌어내리는 76건은 건드리지 못합니다.</a:t>
            </a:r>
          </a:p>
        </p:txBody>
      </p:sp>
      <p:sp>
        <p:nvSpPr>
          <p:cNvPr id="107" name="Card 107"/>
          <p:cNvSpPr/>
          <p:nvPr/>
        </p:nvSpPr>
        <p:spPr>
          <a:xfrm>
            <a:off x="553951" y="5960000"/>
            <a:ext cx="6200000" cy="500000"/>
          </a:xfrm>
          <a:prstGeom prst="roundRect">
            <a:avLst>
              <a:gd name="adj" fmla="val 6000"/>
            </a:avLst>
          </a:prstGeom>
          <a:solidFill>
            <a:srgbClr val="FBEDEB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ko-KR"/>
          </a:p>
        </p:txBody>
      </p:sp>
      <p:sp>
        <p:nvSpPr>
          <p:cNvPr id="108" name="TextBox 108"/>
          <p:cNvSpPr txBox="1"/>
          <p:nvPr/>
        </p:nvSpPr>
        <p:spPr>
          <a:xfrm>
            <a:off x="833951" y="6160000"/>
            <a:ext cx="5640000" cy="1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ko-KR" altLang="en-US" sz="1050" b="1" i="0" dirty="0">
                <a:solidFill>
                  <a:srgbClr val="C0392B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107건 중 76건은 exp_004·009·010·011 네 실험 모두에서 CER &gt; 0.3 — 이 76건이 exp_011 CER의 59%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53952" y="414340"/>
            <a:ext cx="408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chemeClr val="bg2">
                    <a:lumMod val="50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Document Studio VLM</a:t>
            </a:r>
          </a:p>
        </p:txBody>
      </p:sp>
      <p:sp>
        <p:nvSpPr>
          <p:cNvPr id="8" name="Title"/>
          <p:cNvSpPr txBox="1"/>
          <p:nvPr/>
        </p:nvSpPr>
        <p:spPr>
          <a:xfrm>
            <a:off x="553951" y="757240"/>
            <a:ext cx="10900000" cy="4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kumimoji="1" lang="ko-KR" altLang="en-US" sz="2800" b="1" i="0" dirty="0">
                <a:solidFill>
                  <a:srgbClr val="14141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CER이 안 내려가는 이유 ② — 안 고쳐지던 76건의 정체</a:t>
            </a:r>
          </a:p>
        </p:txBody>
      </p:sp>
      <p:sp>
        <p:nvSpPr>
          <p:cNvPr id="9" name="Subtitle"/>
          <p:cNvSpPr txBox="1"/>
          <p:nvPr/>
        </p:nvSpPr>
        <p:spPr>
          <a:xfrm>
            <a:off x="553951" y="1268000"/>
            <a:ext cx="10900000" cy="2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kumimoji="1" lang="ko-KR" altLang="en-US" sz="1200" b="0" i="0" dirty="0">
                <a:solidFill>
                  <a:srgbClr val="98A6AD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76건 전부 눈으로 확인 · 회전 2장과 GT 오류가 76건의 87%</a:t>
            </a:r>
          </a:p>
        </p:txBody>
      </p:sp>
      <p:pic>
        <p:nvPicPr>
          <p:cNvPr id="5" name="Saltlu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6133" y="6434019"/>
            <a:ext cx="738350" cy="197701"/>
          </a:xfrm>
          <a:prstGeom prst="rect">
            <a:avLst/>
          </a:prstGeom>
        </p:spPr>
      </p:pic>
      <p:pic>
        <p:nvPicPr>
          <p:cNvPr id="101" name="Picture 10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3951" y="1600000"/>
            <a:ext cx="6100000" cy="2548347"/>
          </a:xfrm>
          <a:prstGeom prst="rect">
            <a:avLst/>
          </a:prstGeom>
        </p:spPr>
      </p:pic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6953951" y="1600000"/>
          <a:ext cx="4702347" cy="2520000"/>
        </p:xfrm>
        <a:graphic>
          <a:graphicData uri="http://schemas.openxmlformats.org/drawingml/2006/table">
            <a:tbl>
              <a:tblPr/>
              <a:tblGrid>
                <a:gridCol w="1786891"/>
                <a:gridCol w="658328"/>
                <a:gridCol w="2257126"/>
              </a:tblGrid>
              <a:tr h="280000"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2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유형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2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건수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2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내용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C0392B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회전 90° 영수증 2장의 크롭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C0392B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40 (53%)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BED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세로로 찍힌 원본 2장 — 4개 모델 전부 전면 실패 · 학습셋에 회전 이미지 0장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D97706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평가셋 GT/bbox 오류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D97706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26 (34%)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BED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GT가 크롭 밖 줄 포함 · 앞부분 누락 · 오타 — 모델 4개가 같은 답을 내고 GT만 다름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2F7D8C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진짜 모델 오독·누락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2F7D8C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9 (12%)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흐린 '테이블'→'001', 잘린 끝줄 생략 등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5A6B74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형식 차이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5A6B74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1 (1%)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【영수증】 vs [영수증]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3" name="TextBox 103"/>
          <p:cNvSpPr txBox="1"/>
          <p:nvPr/>
        </p:nvSpPr>
        <p:spPr>
          <a:xfrm>
            <a:off x="553951" y="4300000"/>
            <a:ext cx="11102347" cy="3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40"/>
              </a:spcAft>
              <a:buNone/>
            </a:pPr>
            <a:r>
              <a:rPr kumimoji="1" lang="ko-KR" altLang="en-US" sz="1300" b="1" i="0" dirty="0">
                <a:solidFill>
                  <a:srgbClr val="1A2429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같은 모델을 정상 문서 기준으로 다시 재면</a:t>
            </a:r>
          </a:p>
        </p:txBody>
      </p:sp>
      <p:graphicFrame>
        <p:nvGraphicFramePr>
          <p:cNvPr id="104" name="Table 104"/>
          <p:cNvGraphicFramePr>
            <a:graphicFrameLocks noGrp="1"/>
          </p:cNvGraphicFramePr>
          <p:nvPr/>
        </p:nvGraphicFramePr>
        <p:xfrm>
          <a:off x="553951" y="4640000"/>
          <a:ext cx="11102347" cy="1480000"/>
        </p:xfrm>
        <a:graphic>
          <a:graphicData uri="http://schemas.openxmlformats.org/drawingml/2006/table">
            <a:tbl>
              <a:tblPr/>
              <a:tblGrid>
                <a:gridCol w="3108657"/>
                <a:gridCol w="1998422"/>
                <a:gridCol w="1998422"/>
                <a:gridCol w="1998422"/>
                <a:gridCol w="1998422"/>
              </a:tblGrid>
              <a:tr h="280000"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5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기준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5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exp_004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5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exp_009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5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exp_010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5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exp_011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2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원본 (921건)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2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0.107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2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0.116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2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0.116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2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0.110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2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회전 2장 제외 (881건)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20" b="1" dirty="0">
                          <a:solidFill>
                            <a:srgbClr val="2E7D5B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0.068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20" b="1" dirty="0">
                          <a:solidFill>
                            <a:srgbClr val="2E7D5B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0.077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20" b="1" dirty="0">
                          <a:solidFill>
                            <a:srgbClr val="2E7D5B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0.079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20" b="1" dirty="0">
                          <a:solidFill>
                            <a:srgbClr val="2E7D5B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0.071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EDF3F4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2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+ GT 오류 26건 수정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2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0.050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2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0.059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2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0.060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2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0.053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2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+ 공백·기호 정규화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2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0.036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2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0.040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2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0.038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2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0.036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5" name="Card 105"/>
          <p:cNvSpPr/>
          <p:nvPr/>
        </p:nvSpPr>
        <p:spPr>
          <a:xfrm>
            <a:off x="553951" y="6000000"/>
            <a:ext cx="11102347" cy="480000"/>
          </a:xfrm>
          <a:prstGeom prst="roundRect">
            <a:avLst>
              <a:gd name="adj" fmla="val 6000"/>
            </a:avLst>
          </a:prstGeom>
          <a:solidFill>
            <a:srgbClr val="EDF3F4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ko-KR"/>
          </a:p>
        </p:txBody>
      </p:sp>
      <p:sp>
        <p:nvSpPr>
          <p:cNvPr id="106" name="TextBox 106"/>
          <p:cNvSpPr txBox="1"/>
          <p:nvPr/>
        </p:nvSpPr>
        <p:spPr>
          <a:xfrm>
            <a:off x="833951" y="6200000"/>
            <a:ext cx="10542347" cy="1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ko-KR" altLang="en-US" sz="1100" b="1" i="0" dirty="0">
                <a:solidFill>
                  <a:srgbClr val="2E7D5B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회전 2장만 빼도 네 실험 전부 목표(0.097)를 넘습니다. </a:t>
            </a:r>
            <a:r>
              <a:rPr kumimoji="1" lang="ko-KR" altLang="en-US" sz="1050" b="0" i="0" dirty="0">
                <a:solidFill>
                  <a:srgbClr val="5A6B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exp_001~004 때는 이 8장을 제외한 978건으로 쟀고, exp_005부터 1,019건 전량으로 바꾸면서 제외했던 문서가 다시 들어왔습니다. 순위는 안 바뀌지만 "목표 미달" 판정은 평가셋 문제였습니다.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53952" y="414340"/>
            <a:ext cx="408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chemeClr val="bg2">
                    <a:lumMod val="50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Document Studio VLM</a:t>
            </a:r>
          </a:p>
        </p:txBody>
      </p:sp>
      <p:sp>
        <p:nvSpPr>
          <p:cNvPr id="8" name="Title"/>
          <p:cNvSpPr txBox="1"/>
          <p:nvPr/>
        </p:nvSpPr>
        <p:spPr>
          <a:xfrm>
            <a:off x="553951" y="757240"/>
            <a:ext cx="10900000" cy="4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kumimoji="1" lang="ko-KR" altLang="en-US" sz="2800" b="1" i="0" dirty="0">
                <a:solidFill>
                  <a:srgbClr val="14141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지속 발생 오류 유형 분석과 대응 방향</a:t>
            </a:r>
          </a:p>
        </p:txBody>
      </p:sp>
      <p:sp>
        <p:nvSpPr>
          <p:cNvPr id="9" name="Subtitle"/>
          <p:cNvSpPr txBox="1"/>
          <p:nvPr/>
        </p:nvSpPr>
        <p:spPr>
          <a:xfrm>
            <a:off x="553951" y="1268000"/>
            <a:ext cx="10900000" cy="2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kumimoji="1" lang="ko-KR" altLang="en-US" sz="1200" b="0" i="0" dirty="0">
                <a:solidFill>
                  <a:srgbClr val="98A6AD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자체 평가셋 exp_011 오류 크롭 330건 + SS 평가셋 KIE 오답 분해</a:t>
            </a:r>
          </a:p>
        </p:txBody>
      </p:sp>
      <p:pic>
        <p:nvPicPr>
          <p:cNvPr id="5" name="Saltlu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6133" y="6434019"/>
            <a:ext cx="738350" cy="197701"/>
          </a:xfrm>
          <a:prstGeom prst="rect">
            <a:avLst/>
          </a:prstGeom>
        </p:spPr>
      </p:pic>
      <p:pic>
        <p:nvPicPr>
          <p:cNvPr id="101" name="Picture 10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3951" y="1600000"/>
            <a:ext cx="5688542" cy="2200000"/>
          </a:xfrm>
          <a:prstGeom prst="rect">
            <a:avLst/>
          </a:prstGeom>
        </p:spPr>
      </p:pic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6553951" y="1600000"/>
          <a:ext cx="5102347" cy="2880000"/>
        </p:xfrm>
        <a:graphic>
          <a:graphicData uri="http://schemas.openxmlformats.org/drawingml/2006/table">
            <a:tbl>
              <a:tblPr/>
              <a:tblGrid>
                <a:gridCol w="1734797"/>
                <a:gridCol w="612281"/>
                <a:gridCol w="714328"/>
                <a:gridCol w="2040938"/>
              </a:tblGrid>
              <a:tr h="270000"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유형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건수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CER 기여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대응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80" b="1" dirty="0">
                          <a:solidFill>
                            <a:srgbClr val="C0392B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회전 이미지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5A6B7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40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1" dirty="0">
                          <a:solidFill>
                            <a:srgbClr val="C0392B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38.0%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6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평가셋에서 분리 보고 + 회전 증강·방향 보정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80" b="1" dirty="0">
                          <a:solidFill>
                            <a:srgbClr val="D97706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평가셋 GT/bbox 오류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5A6B7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26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1" dirty="0">
                          <a:solidFill>
                            <a:srgbClr val="D97706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16.0%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6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평가셋 재검수 (26건 + 의심 11건)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80" b="1" dirty="0">
                          <a:solidFill>
                            <a:srgbClr val="5A6B74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형식 차이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5A6B7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124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1" dirty="0">
                          <a:solidFill>
                            <a:srgbClr val="5A6B74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13.4%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6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정규화 채점 병행 — 공백·기호 통일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80" b="1" dirty="0">
                          <a:solidFill>
                            <a:srgbClr val="5A6B74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형식 차이 + 경미 오독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5A6B7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1" dirty="0">
                          <a:solidFill>
                            <a:srgbClr val="5A6B74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3.2%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6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위와 동일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80" b="1" dirty="0">
                          <a:solidFill>
                            <a:srgbClr val="2F7D8C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한글 오독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5A6B7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1" dirty="0">
                          <a:solidFill>
                            <a:srgbClr val="2F7D8C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9.9%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6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실촬영 저화질 학습 데이터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80" b="1" dirty="0">
                          <a:solidFill>
                            <a:srgbClr val="2F7D8C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누락 (줄 생략)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5A6B7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1" dirty="0">
                          <a:solidFill>
                            <a:srgbClr val="2F7D8C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6.7%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6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다중 줄 크롭 학습 보강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80" b="1" dirty="0">
                          <a:solidFill>
                            <a:srgbClr val="2F7D8C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숫자 오독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5A6B7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1" dirty="0">
                          <a:solidFill>
                            <a:srgbClr val="2F7D8C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4.7%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6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실촬영 데이터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80" b="1" dirty="0">
                          <a:solidFill>
                            <a:srgbClr val="2F7D8C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추가 (없는 내용 생성)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5A6B7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1" dirty="0">
                          <a:solidFill>
                            <a:srgbClr val="2F7D8C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4.1%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6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프롬프트 안전장치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80" b="1" dirty="0">
                          <a:solidFill>
                            <a:srgbClr val="D97706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GT 의심 (모델 일치)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5A6B7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1" dirty="0">
                          <a:solidFill>
                            <a:srgbClr val="D97706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2.3%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60" b="0" dirty="0">
                          <a:solidFill>
                            <a:srgbClr val="14141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재검수 대상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3" name="Card 103"/>
          <p:cNvSpPr/>
          <p:nvPr/>
        </p:nvSpPr>
        <p:spPr>
          <a:xfrm>
            <a:off x="553951" y="3960000"/>
            <a:ext cx="5700000" cy="760000"/>
          </a:xfrm>
          <a:prstGeom prst="roundRect">
            <a:avLst>
              <a:gd name="adj" fmla="val 6000"/>
            </a:avLst>
          </a:prstGeom>
          <a:solidFill>
            <a:srgbClr val="EDF3F4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ko-KR"/>
          </a:p>
        </p:txBody>
      </p:sp>
      <p:sp>
        <p:nvSpPr>
          <p:cNvPr id="104" name="TextBox 104"/>
          <p:cNvSpPr txBox="1"/>
          <p:nvPr/>
        </p:nvSpPr>
        <p:spPr>
          <a:xfrm>
            <a:off x="873951" y="4160000"/>
            <a:ext cx="5060000" cy="4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ko-KR" altLang="en-US" sz="1150" b="1" i="0" dirty="0">
                <a:solidFill>
                  <a:srgbClr val="2F7D8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모델이 고칠 수 있는 몫은 CER 기여 27%</a:t>
            </a:r>
            <a:r>
              <a:rPr kumimoji="1" lang="ko-KR" altLang="en-US" sz="1150" b="0" i="0" dirty="0">
                <a:solidFill>
                  <a:srgbClr val="5A6B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(한글·숫자 오독, 누락, 추가). 나머지 73%는 평가셋(54%)과 채점 규칙(17%)의 몫입니다.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553951" y="4880000"/>
            <a:ext cx="5700000" cy="3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40"/>
              </a:spcAft>
              <a:buNone/>
            </a:pPr>
            <a:r>
              <a:rPr kumimoji="1" lang="ko-KR" altLang="en-US" sz="1100" b="1" i="0" dirty="0">
                <a:solidFill>
                  <a:srgbClr val="1A2429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SS 평가셋 — KIE 오답 4종 분해</a:t>
            </a:r>
          </a:p>
        </p:txBody>
      </p:sp>
      <p:graphicFrame>
        <p:nvGraphicFramePr>
          <p:cNvPr id="106" name="Table 106"/>
          <p:cNvGraphicFramePr>
            <a:graphicFrameLocks noGrp="1"/>
          </p:cNvGraphicFramePr>
          <p:nvPr/>
        </p:nvGraphicFramePr>
        <p:xfrm>
          <a:off x="553951" y="5200000"/>
          <a:ext cx="5700000" cy="1430000"/>
        </p:xfrm>
        <a:graphic>
          <a:graphicData uri="http://schemas.openxmlformats.org/drawingml/2006/table">
            <a:tbl>
              <a:tblPr/>
              <a:tblGrid>
                <a:gridCol w="1026000"/>
                <a:gridCol w="912000"/>
                <a:gridCol w="912000"/>
                <a:gridCol w="969000"/>
                <a:gridCol w="912000"/>
                <a:gridCol w="969000"/>
              </a:tblGrid>
              <a:tr h="270000"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도메인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완전일치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표기차이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과다추출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실제오독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데이터로 해결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8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영수증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84.4%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4.0%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0.6%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6.2%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6.8%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8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견적서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59.0%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17.7%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0.5%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6.5%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7.0%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8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계산서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57.2%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11.8%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0.3%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9.1%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9.4%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780" b="1" dirty="0">
                          <a:solidFill>
                            <a:srgbClr val="C0392B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명세서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BED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73.1%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BED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7.0%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BED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8.2%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BED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5.8%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BED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78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14.0%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BEDEB"/>
                    </a:solidFill>
                  </a:tcPr>
                </a:tc>
              </a:tr>
            </a:tbl>
          </a:graphicData>
        </a:graphic>
      </p:graphicFrame>
      <p:sp>
        <p:nvSpPr>
          <p:cNvPr id="107" name="TextBox 107"/>
          <p:cNvSpPr txBox="1"/>
          <p:nvPr/>
        </p:nvSpPr>
        <p:spPr>
          <a:xfrm>
            <a:off x="6553951" y="5380000"/>
            <a:ext cx="5102347" cy="12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18745" indent="-118745" algn="l">
              <a:lnSpc>
                <a:spcPct val="112000"/>
              </a:lnSpc>
              <a:spcBef>
                <a:spcPts val="0"/>
              </a:spcBef>
              <a:spcAft>
                <a:spcPts val="230"/>
              </a:spcAft>
              <a:buNone/>
            </a:pPr>
            <a:r>
              <a:rPr kumimoji="1" lang="ko-KR" altLang="en-US" sz="880" b="0" i="0" dirty="0">
                <a:solidFill>
                  <a:srgbClr val="2F7D8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kumimoji="1" lang="ko-KR" altLang="en-US" sz="880" b="1" i="0" dirty="0">
                <a:solidFill>
                  <a:srgbClr val="1A2429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명세서</a:t>
            </a:r>
            <a:r>
              <a:rPr kumimoji="1" lang="ko-KR" altLang="en-US" sz="880" b="0" i="0" dirty="0">
                <a:solidFill>
                  <a:srgbClr val="5A6B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주소 3필드 과다 추출 63~72%(정답 뒤에 TEL/FAX를 이어 붙임) — 블록 종료 판단 실패 → 데이터로 해결 가능</a:t>
            </a:r>
          </a:p>
          <a:p>
            <a:pPr marL="118745" indent="-118745" algn="l">
              <a:lnSpc>
                <a:spcPct val="112000"/>
              </a:lnSpc>
              <a:spcBef>
                <a:spcPts val="0"/>
              </a:spcBef>
              <a:spcAft>
                <a:spcPts val="230"/>
              </a:spcAft>
              <a:buNone/>
            </a:pPr>
            <a:r>
              <a:rPr kumimoji="1" lang="ko-KR" altLang="en-US" sz="880" b="0" i="0" dirty="0">
                <a:solidFill>
                  <a:srgbClr val="2F7D8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kumimoji="1" lang="ko-KR" altLang="en-US" sz="880" b="1" i="0" dirty="0">
                <a:solidFill>
                  <a:srgbClr val="1A2429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계산서</a:t>
            </a:r>
            <a:r>
              <a:rPr kumimoji="1" lang="ko-KR" altLang="en-US" sz="880" b="0" i="0" dirty="0">
                <a:solidFill>
                  <a:srgbClr val="5A6B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오답의 78%가 표기 차이·의미 동등 → 규칙·채점 기준으로 해결, 데이터로는 불가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53952" y="414340"/>
            <a:ext cx="408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chemeClr val="bg2">
                    <a:lumMod val="50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Document Studio VLM</a:t>
            </a:r>
          </a:p>
        </p:txBody>
      </p:sp>
      <p:sp>
        <p:nvSpPr>
          <p:cNvPr id="8" name="Title"/>
          <p:cNvSpPr txBox="1"/>
          <p:nvPr/>
        </p:nvSpPr>
        <p:spPr>
          <a:xfrm>
            <a:off x="553951" y="757240"/>
            <a:ext cx="10900000" cy="4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kumimoji="1" lang="ko-KR" altLang="en-US" sz="2800" b="1" i="0" dirty="0">
                <a:solidFill>
                  <a:srgbClr val="14141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문제점 상세 — 학습셋 오염 (FATURA2 4,000행)</a:t>
            </a:r>
          </a:p>
        </p:txBody>
      </p:sp>
      <p:sp>
        <p:nvSpPr>
          <p:cNvPr id="9" name="Subtitle"/>
          <p:cNvSpPr txBox="1"/>
          <p:nvPr/>
        </p:nvSpPr>
        <p:spPr>
          <a:xfrm>
            <a:off x="553951" y="1268000"/>
            <a:ext cx="10900000" cy="2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kumimoji="1" lang="ko-KR" altLang="en-US" sz="1200" b="0" i="0" dirty="0">
                <a:solidFill>
                  <a:srgbClr val="98A6AD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모델이 '표를 요구받아도 표 없이 답한다'를 4,000회 학습 · 낱개 자산에 exp_009 vs exp_013 출력 대조 포함</a:t>
            </a:r>
          </a:p>
        </p:txBody>
      </p:sp>
      <p:pic>
        <p:nvPicPr>
          <p:cNvPr id="5" name="Saltlu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6133" y="6434019"/>
            <a:ext cx="738350" cy="197701"/>
          </a:xfrm>
          <a:prstGeom prst="rect">
            <a:avLst/>
          </a:prstGeom>
        </p:spPr>
      </p:pic>
      <p:sp>
        <p:nvSpPr>
          <p:cNvPr id="101" name="TextBox 101"/>
          <p:cNvSpPr txBox="1"/>
          <p:nvPr/>
        </p:nvSpPr>
        <p:spPr>
          <a:xfrm>
            <a:off x="553951" y="1590000"/>
            <a:ext cx="11102347" cy="2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ko-KR" altLang="en-US" sz="950" b="1" i="0" dirty="0">
                <a:solidFill>
                  <a:srgbClr val="5A6B74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지시문 — 표를 HTML &lt;table&gt;로 출력하라고 요구</a:t>
            </a:r>
          </a:p>
        </p:txBody>
      </p:sp>
      <p:pic>
        <p:nvPicPr>
          <p:cNvPr id="102" name="Picture 10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3951" y="1870000"/>
            <a:ext cx="3515923" cy="460000"/>
          </a:xfrm>
          <a:prstGeom prst="rect">
            <a:avLst/>
          </a:prstGeom>
        </p:spPr>
      </p:pic>
      <p:sp>
        <p:nvSpPr>
          <p:cNvPr id="103" name="Card 103"/>
          <p:cNvSpPr/>
          <p:nvPr/>
        </p:nvSpPr>
        <p:spPr>
          <a:xfrm>
            <a:off x="553951" y="2500000"/>
            <a:ext cx="3500782" cy="3100000"/>
          </a:xfrm>
          <a:prstGeom prst="roundRect">
            <a:avLst>
              <a:gd name="adj" fmla="val 4000"/>
            </a:avLst>
          </a:prstGeom>
          <a:solidFill>
            <a:srgbClr val="F5F8F9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ko-KR"/>
          </a:p>
        </p:txBody>
      </p:sp>
      <p:sp>
        <p:nvSpPr>
          <p:cNvPr id="104" name="TextBox 104"/>
          <p:cNvSpPr txBox="1"/>
          <p:nvPr/>
        </p:nvSpPr>
        <p:spPr>
          <a:xfrm>
            <a:off x="753951" y="2680000"/>
            <a:ext cx="3100782" cy="3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ko-KR" altLang="en-US" sz="950" b="1" i="0" dirty="0">
                <a:solidFill>
                  <a:srgbClr val="2F7D8C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① 학습 이미지 — 품목 표가 선명함</a:t>
            </a:r>
          </a:p>
        </p:txBody>
      </p:sp>
      <p:pic>
        <p:nvPicPr>
          <p:cNvPr id="105" name="Picture 10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3951" y="3100000"/>
            <a:ext cx="1627229" cy="2300000"/>
          </a:xfrm>
          <a:prstGeom prst="rect">
            <a:avLst/>
          </a:prstGeom>
        </p:spPr>
      </p:pic>
      <p:sp>
        <p:nvSpPr>
          <p:cNvPr id="106" name="Card 106"/>
          <p:cNvSpPr/>
          <p:nvPr/>
        </p:nvSpPr>
        <p:spPr>
          <a:xfrm>
            <a:off x="4354733" y="2500000"/>
            <a:ext cx="3500782" cy="3100000"/>
          </a:xfrm>
          <a:prstGeom prst="roundRect">
            <a:avLst>
              <a:gd name="adj" fmla="val 4000"/>
            </a:avLst>
          </a:prstGeom>
          <a:solidFill>
            <a:srgbClr val="FBEDEB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ko-KR"/>
          </a:p>
        </p:txBody>
      </p:sp>
      <p:sp>
        <p:nvSpPr>
          <p:cNvPr id="107" name="TextBox 107"/>
          <p:cNvSpPr txBox="1"/>
          <p:nvPr/>
        </p:nvSpPr>
        <p:spPr>
          <a:xfrm>
            <a:off x="4554733" y="2680000"/>
            <a:ext cx="3100782" cy="3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ko-KR" altLang="en-US" sz="950" b="1" i="0" dirty="0">
                <a:solidFill>
                  <a:srgbClr val="C0392B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② 학습에 쓰인 정답 (exp_012·013) — 표 없음</a:t>
            </a:r>
          </a:p>
        </p:txBody>
      </p:sp>
      <p:pic>
        <p:nvPicPr>
          <p:cNvPr id="108" name="Picture 10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54733" y="3100000"/>
            <a:ext cx="3100782" cy="1108529"/>
          </a:xfrm>
          <a:prstGeom prst="rect">
            <a:avLst/>
          </a:prstGeom>
        </p:spPr>
      </p:pic>
      <p:sp>
        <p:nvSpPr>
          <p:cNvPr id="109" name="Card 109"/>
          <p:cNvSpPr/>
          <p:nvPr/>
        </p:nvSpPr>
        <p:spPr>
          <a:xfrm>
            <a:off x="8155515" y="2500000"/>
            <a:ext cx="3500782" cy="3100000"/>
          </a:xfrm>
          <a:prstGeom prst="roundRect">
            <a:avLst>
              <a:gd name="adj" fmla="val 4000"/>
            </a:avLst>
          </a:prstGeom>
          <a:solidFill>
            <a:srgbClr val="EDF3F4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ko-KR"/>
          </a:p>
        </p:txBody>
      </p:sp>
      <p:sp>
        <p:nvSpPr>
          <p:cNvPr id="110" name="TextBox 110"/>
          <p:cNvSpPr txBox="1"/>
          <p:nvPr/>
        </p:nvSpPr>
        <p:spPr>
          <a:xfrm>
            <a:off x="8355515" y="2680000"/>
            <a:ext cx="3100782" cy="3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ko-KR" altLang="en-US" sz="950" b="1" i="0" dirty="0">
                <a:solidFill>
                  <a:srgbClr val="2E7D5B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③ 복원한 정답 (exp_015) — 표 채움 + 합계 검산</a:t>
            </a:r>
          </a:p>
        </p:txBody>
      </p:sp>
      <p:pic>
        <p:nvPicPr>
          <p:cNvPr id="111" name="Picture 11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55515" y="3100000"/>
            <a:ext cx="3100782" cy="1656334"/>
          </a:xfrm>
          <a:prstGeom prst="rect">
            <a:avLst/>
          </a:prstGeom>
        </p:spPr>
      </p:pic>
      <p:sp>
        <p:nvSpPr>
          <p:cNvPr id="112" name="Card 112"/>
          <p:cNvSpPr/>
          <p:nvPr/>
        </p:nvSpPr>
        <p:spPr>
          <a:xfrm>
            <a:off x="553951" y="5760000"/>
            <a:ext cx="11102347" cy="620000"/>
          </a:xfrm>
          <a:prstGeom prst="roundRect">
            <a:avLst>
              <a:gd name="adj" fmla="val 6000"/>
            </a:avLst>
          </a:prstGeom>
          <a:solidFill>
            <a:srgbClr val="FBEDEB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ko-KR"/>
          </a:p>
        </p:txBody>
      </p:sp>
      <p:sp>
        <p:nvSpPr>
          <p:cNvPr id="113" name="TextBox 113"/>
          <p:cNvSpPr txBox="1"/>
          <p:nvPr/>
        </p:nvSpPr>
        <p:spPr>
          <a:xfrm>
            <a:off x="873951" y="5960000"/>
            <a:ext cx="10462347" cy="2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ko-KR" altLang="en-US" sz="1150" b="1" i="0" dirty="0">
                <a:solidFill>
                  <a:srgbClr val="C0392B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라벨이 부실한 게 아니라 용도가 다른 데이터를 다른 용도로 쓴 것입니다. </a:t>
            </a:r>
            <a:r>
              <a:rPr kumimoji="1" lang="ko-KR" altLang="en-US" sz="1150" b="0" i="0" dirty="0">
                <a:solidFill>
                  <a:srgbClr val="5A6B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FATURA2는 필드추출(KIE)용이라 품목 표를 주석하지 않았는데(8,600장 전부 토큰 'table' 하나), 우리가 문서전사용으로 가져오며 표를 요구하는 지시문을 붙였습니다.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53952" y="414340"/>
            <a:ext cx="408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>
                <a:solidFill>
                  <a:schemeClr val="bg2">
                    <a:lumMod val="50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Document Studio VLM</a:t>
            </a:r>
          </a:p>
        </p:txBody>
      </p:sp>
      <p:sp>
        <p:nvSpPr>
          <p:cNvPr id="8" name="Title"/>
          <p:cNvSpPr txBox="1"/>
          <p:nvPr/>
        </p:nvSpPr>
        <p:spPr>
          <a:xfrm>
            <a:off x="553951" y="757240"/>
            <a:ext cx="10900000" cy="4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kumimoji="1" lang="ko-KR" altLang="en-US" sz="2800" b="1" i="0" dirty="0">
                <a:solidFill>
                  <a:srgbClr val="14141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다음 — 진행 중 · 계획 · 판단 요청</a:t>
            </a:r>
          </a:p>
        </p:txBody>
      </p:sp>
      <p:pic>
        <p:nvPicPr>
          <p:cNvPr id="5" name="Saltlu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6133" y="6434019"/>
            <a:ext cx="738350" cy="197701"/>
          </a:xfrm>
          <a:prstGeom prst="rect">
            <a:avLst/>
          </a:prstGeom>
        </p:spPr>
      </p:pic>
      <p:sp>
        <p:nvSpPr>
          <p:cNvPr id="101" name="TextBox 101"/>
          <p:cNvSpPr txBox="1"/>
          <p:nvPr/>
        </p:nvSpPr>
        <p:spPr>
          <a:xfrm>
            <a:off x="553951" y="1620000"/>
            <a:ext cx="6300000" cy="3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40"/>
              </a:spcAft>
              <a:buNone/>
            </a:pPr>
            <a:r>
              <a:rPr kumimoji="1" lang="ko-KR" altLang="en-US" sz="1300" b="1" i="0" dirty="0">
                <a:solidFill>
                  <a:srgbClr val="1A2429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진행 중 · 예정</a:t>
            </a:r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53951" y="1980000"/>
          <a:ext cx="6300000" cy="2590000"/>
        </p:xfrm>
        <a:graphic>
          <a:graphicData uri="http://schemas.openxmlformats.org/drawingml/2006/table">
            <a:tbl>
              <a:tblPr/>
              <a:tblGrid>
                <a:gridCol w="3906000"/>
                <a:gridCol w="2394000"/>
              </a:tblGrid>
              <a:tr h="280000"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5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항목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ko-KR" altLang="en-US" sz="850" b="1" dirty="0">
                          <a:solidFill>
                            <a:srgbClr val="FFFFFF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상태</a:t>
                      </a:r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2F7D8C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exp_015 · exp_014 SS 400 KIE 채점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5A6B7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파싱 완료 · 추출기 복구 대기 (15분)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자체 평가셋 재검수 — 회전 2장 분리 + GT 오류 26건 + 의심 11건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2F7D8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신규 (오늘 분석 결과) · 반나절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EDF3F4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1" dirty="0">
                          <a:solidFill>
                            <a:srgbClr val="1A2429"/>
                          </a:solidFill>
                          <a:latin typeface="Pretendard SemiBold" panose="02000503000000020004" pitchFamily="2" charset="-127"/>
                          <a:ea typeface="Pretendard SemiBold" panose="02000503000000020004" pitchFamily="2" charset="-127"/>
                          <a:cs typeface="Pretendard SemiBold" panose="02000503000000020004" pitchFamily="2" charset="-127"/>
                        </a:rPr>
                        <a:t>채점 규칙: 공백·기호 정규화 CER 병행 보고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2F7D8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신규 · 스크립트 1시간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EDF3F4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exp_017 학습셋 재배분 (34,421행)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5A6B7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빌드 중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프롬프트 다양화 실험 (개선안 8종)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5A6B7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exp_015 채점 후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한국어 축 공개 데이터 (ko-vdr · KolmOCR)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5A6B7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표본 200행 검수 후 투입량 확정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1A242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텍소노미 v1.1 GitLab push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ko-KR" altLang="en-US" sz="800" b="0" dirty="0">
                          <a:solidFill>
                            <a:srgbClr val="5A6B74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승인 대기</a:t>
                      </a:r>
                    </a:p>
                  </a:txBody>
                  <a:tcPr marL="64008" marR="64008" marT="32004" marB="32004" anchor="t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3" name="TextBox 103"/>
          <p:cNvSpPr txBox="1"/>
          <p:nvPr/>
        </p:nvSpPr>
        <p:spPr>
          <a:xfrm>
            <a:off x="7253951" y="1620000"/>
            <a:ext cx="4402347" cy="3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40"/>
              </a:spcAft>
              <a:buNone/>
            </a:pPr>
            <a:r>
              <a:rPr kumimoji="1" lang="ko-KR" altLang="en-US" sz="1300" b="1" i="0" dirty="0">
                <a:solidFill>
                  <a:srgbClr val="C0392B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판단 요청 드리는 것</a:t>
            </a:r>
          </a:p>
        </p:txBody>
      </p:sp>
      <p:sp>
        <p:nvSpPr>
          <p:cNvPr id="104" name="Card 104"/>
          <p:cNvSpPr/>
          <p:nvPr/>
        </p:nvSpPr>
        <p:spPr>
          <a:xfrm>
            <a:off x="7253951" y="1980000"/>
            <a:ext cx="4402347" cy="1020000"/>
          </a:xfrm>
          <a:prstGeom prst="roundRect">
            <a:avLst>
              <a:gd name="adj" fmla="val 6000"/>
            </a:avLst>
          </a:prstGeom>
          <a:solidFill>
            <a:srgbClr val="FBEDEB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ko-KR"/>
          </a:p>
        </p:txBody>
      </p:sp>
      <p:sp>
        <p:nvSpPr>
          <p:cNvPr id="105" name="TextBox 105"/>
          <p:cNvSpPr txBox="1"/>
          <p:nvPr/>
        </p:nvSpPr>
        <p:spPr>
          <a:xfrm>
            <a:off x="7513951" y="2160000"/>
            <a:ext cx="280000" cy="3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ko-KR" altLang="en-US" sz="1300" b="1" i="0" dirty="0">
                <a:solidFill>
                  <a:srgbClr val="C0392B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1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7813951" y="2160000"/>
            <a:ext cx="3582347" cy="3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ko-KR" altLang="en-US" sz="1100" b="1" i="0" dirty="0">
                <a:solidFill>
                  <a:srgbClr val="1A2429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평가셋 기준 확정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7813951" y="2540000"/>
            <a:ext cx="3582347" cy="4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ko-KR" altLang="en-US" sz="880" b="0" i="0" dirty="0">
                <a:solidFill>
                  <a:srgbClr val="5A6B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회전 2장을 (a) 제외한 978건으로 되돌릴지 (b) 포함하되 "회전 대응"을 별도 과제로 둘지. 실촬영에 회전이 들어오면 (b)</a:t>
            </a:r>
          </a:p>
        </p:txBody>
      </p:sp>
      <p:sp>
        <p:nvSpPr>
          <p:cNvPr id="108" name="Card 108"/>
          <p:cNvSpPr/>
          <p:nvPr/>
        </p:nvSpPr>
        <p:spPr>
          <a:xfrm>
            <a:off x="7253951" y="3130000"/>
            <a:ext cx="4402347" cy="1020000"/>
          </a:xfrm>
          <a:prstGeom prst="roundRect">
            <a:avLst>
              <a:gd name="adj" fmla="val 6000"/>
            </a:avLst>
          </a:prstGeom>
          <a:solidFill>
            <a:srgbClr val="FBEDEB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ko-KR"/>
          </a:p>
        </p:txBody>
      </p:sp>
      <p:sp>
        <p:nvSpPr>
          <p:cNvPr id="109" name="TextBox 109"/>
          <p:cNvSpPr txBox="1"/>
          <p:nvPr/>
        </p:nvSpPr>
        <p:spPr>
          <a:xfrm>
            <a:off x="7513951" y="3310000"/>
            <a:ext cx="280000" cy="3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ko-KR" altLang="en-US" sz="1300" b="1" i="0" dirty="0">
                <a:solidFill>
                  <a:srgbClr val="C0392B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2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7813951" y="3310000"/>
            <a:ext cx="3582347" cy="3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ko-KR" altLang="en-US" sz="1100" b="1" i="0" dirty="0">
                <a:solidFill>
                  <a:srgbClr val="1A2429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사내 실문서 라벨링 착수 여부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7813951" y="3690000"/>
            <a:ext cx="3582347" cy="4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ko-KR" altLang="en-US" sz="880" b="0" i="0" dirty="0">
                <a:solidFill>
                  <a:srgbClr val="5A6B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남은 모델 오류(오독 27%)는 저화질 실촬영 데이터가 답 — 현재 455장</a:t>
            </a:r>
          </a:p>
        </p:txBody>
      </p:sp>
      <p:sp>
        <p:nvSpPr>
          <p:cNvPr id="112" name="Card 112"/>
          <p:cNvSpPr/>
          <p:nvPr/>
        </p:nvSpPr>
        <p:spPr>
          <a:xfrm>
            <a:off x="7253951" y="4280000"/>
            <a:ext cx="4402347" cy="1020000"/>
          </a:xfrm>
          <a:prstGeom prst="roundRect">
            <a:avLst>
              <a:gd name="adj" fmla="val 6000"/>
            </a:avLst>
          </a:prstGeom>
          <a:solidFill>
            <a:srgbClr val="FBEDEB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ko-KR"/>
          </a:p>
        </p:txBody>
      </p:sp>
      <p:sp>
        <p:nvSpPr>
          <p:cNvPr id="113" name="TextBox 113"/>
          <p:cNvSpPr txBox="1"/>
          <p:nvPr/>
        </p:nvSpPr>
        <p:spPr>
          <a:xfrm>
            <a:off x="7513951" y="4460000"/>
            <a:ext cx="280000" cy="3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ko-KR" altLang="en-US" sz="1300" b="1" i="0" dirty="0">
                <a:solidFill>
                  <a:srgbClr val="C0392B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3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7813951" y="4460000"/>
            <a:ext cx="3582347" cy="3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ko-KR" altLang="en-US" sz="1100" b="1" i="0" dirty="0">
                <a:solidFill>
                  <a:srgbClr val="1A2429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AI-Hub · KorIE GitLab 업로드 가부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7813951" y="4840000"/>
            <a:ext cx="3582347" cy="4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ko-KR" altLang="en-US" sz="880" b="0" i="0" dirty="0">
                <a:solidFill>
                  <a:srgbClr val="5A6B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제3자 제공 제한 → 재배포 해당 여부</a:t>
            </a:r>
          </a:p>
        </p:txBody>
      </p:sp>
      <p:sp>
        <p:nvSpPr>
          <p:cNvPr id="116" name="Card 116"/>
          <p:cNvSpPr/>
          <p:nvPr/>
        </p:nvSpPr>
        <p:spPr>
          <a:xfrm>
            <a:off x="7253951" y="5430000"/>
            <a:ext cx="4402347" cy="1020000"/>
          </a:xfrm>
          <a:prstGeom prst="roundRect">
            <a:avLst>
              <a:gd name="adj" fmla="val 6000"/>
            </a:avLst>
          </a:prstGeom>
          <a:solidFill>
            <a:srgbClr val="FBEDEB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ko-KR"/>
          </a:p>
        </p:txBody>
      </p:sp>
      <p:sp>
        <p:nvSpPr>
          <p:cNvPr id="117" name="TextBox 117"/>
          <p:cNvSpPr txBox="1"/>
          <p:nvPr/>
        </p:nvSpPr>
        <p:spPr>
          <a:xfrm>
            <a:off x="7513951" y="5610000"/>
            <a:ext cx="280000" cy="3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ko-KR" altLang="en-US" sz="1300" b="1" i="0" dirty="0">
                <a:solidFill>
                  <a:srgbClr val="C0392B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4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7813951" y="5610000"/>
            <a:ext cx="3582347" cy="3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ko-KR" altLang="en-US" sz="1100" b="1" i="0" dirty="0">
                <a:solidFill>
                  <a:srgbClr val="1A2429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PubTabNet(NC) 제외 확정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7813951" y="5990000"/>
            <a:ext cx="3582347" cy="4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ko-KR" altLang="en-US" sz="880" b="0" i="0" dirty="0">
                <a:solidFill>
                  <a:srgbClr val="5A6B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exp_014 채점 후 결정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bg1"/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74832a9-1447-4b9b-918d-59376d81c5bd" xsi:nil="true"/>
    <description xmlns="8be326ae-424e-43e3-89c5-a5a3d72d0845" xsi:nil="true"/>
    <lcf76f155ced4ddcb4097134ff3c332f xmlns="8be326ae-424e-43e3-89c5-a5a3d72d0845">
      <Terms xmlns="http://schemas.microsoft.com/office/infopath/2007/PartnerControls"/>
    </lcf76f155ced4ddcb4097134ff3c332f>
    <_xc0dd__xc131__xb0a0__xc9dc_ xmlns="8be326ae-424e-43e3-89c5-a5a3d72d0845" xsi:nil="true"/>
    <memo xmlns="8be326ae-424e-43e3-89c5-a5a3d72d084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FA2F38F024E27E4882B8488722D0246E" ma:contentTypeVersion="22" ma:contentTypeDescription="새 문서를 만듭니다." ma:contentTypeScope="" ma:versionID="7ef12650fe7c5f3afb8533a037ca32a7">
  <xsd:schema xmlns:xsd="http://www.w3.org/2001/XMLSchema" xmlns:xs="http://www.w3.org/2001/XMLSchema" xmlns:p="http://schemas.microsoft.com/office/2006/metadata/properties" xmlns:ns2="8be326ae-424e-43e3-89c5-a5a3d72d0845" xmlns:ns3="774832a9-1447-4b9b-918d-59376d81c5bd" targetNamespace="http://schemas.microsoft.com/office/2006/metadata/properties" ma:root="true" ma:fieldsID="245d9570002110f73928d6b57a7b6766" ns2:_="" ns3:_="">
    <xsd:import namespace="8be326ae-424e-43e3-89c5-a5a3d72d0845"/>
    <xsd:import namespace="774832a9-1447-4b9b-918d-59376d81c5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descriptio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DateTaken" minOccurs="0"/>
                <xsd:element ref="ns2:memo" minOccurs="0"/>
                <xsd:element ref="ns2:MediaServiceObjectDetectorVersions" minOccurs="0"/>
                <xsd:element ref="ns2:_xc0dd__xc131__xb0a0__xc9dc_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e326ae-424e-43e3-89c5-a5a3d72d08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escription" ma:index="10" nillable="true" ma:displayName="description" ma:description="simple description" ma:format="Dropdown" ma:internalName="description">
      <xsd:simpleType>
        <xsd:restriction base="dms:Text">
          <xsd:maxLength value="255"/>
        </xsd:restriction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이미지 태그" ma:readOnly="false" ma:fieldId="{5cf76f15-5ced-4ddc-b409-7134ff3c332f}" ma:taxonomyMulti="true" ma:sspId="6f833a81-9511-4c57-b568-e9df9f7c52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3" nillable="true" ma:displayName="MediaServiceDateTaken" ma:hidden="true" ma:internalName="MediaServiceDateTaken" ma:readOnly="true">
      <xsd:simpleType>
        <xsd:restriction base="dms:Text"/>
      </xsd:simpleType>
    </xsd:element>
    <xsd:element name="memo" ma:index="24" nillable="true" ma:displayName="memo" ma:format="Dropdown" ma:internalName="memo">
      <xsd:simpleType>
        <xsd:restriction base="dms:Text">
          <xsd:maxLength value="255"/>
        </xsd:restriction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_xc0dd__xc131__xb0a0__xc9dc_" ma:index="26" nillable="true" ma:displayName="생성날짜" ma:format="DateOnly" ma:internalName="_xc0dd__xc131__xb0a0__xc9dc_">
      <xsd:simpleType>
        <xsd:restriction base="dms:DateTime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8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4832a9-1447-4b9b-918d-59376d81c5bd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603d7a11-1664-4243-aa19-1e2e17f64b63}" ma:internalName="TaxCatchAll" ma:showField="CatchAllData" ma:web="774832a9-1447-4b9b-918d-59376d81c5b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0DC9C6F-7B5E-4069-8AA3-CBEC9002BF4C}">
  <ds:schemaRefs>
    <ds:schemaRef ds:uri="http://purl.org/dc/elements/1.1/"/>
    <ds:schemaRef ds:uri="http://www.w3.org/XML/1998/namespace"/>
    <ds:schemaRef ds:uri="http://schemas.microsoft.com/office/2006/metadata/properties"/>
    <ds:schemaRef ds:uri="8be326ae-424e-43e3-89c5-a5a3d72d0845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774832a9-1447-4b9b-918d-59376d81c5bd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52F904B-6121-48A7-A247-89703128A1AC}">
  <ds:schemaRefs>
    <ds:schemaRef ds:uri="774832a9-1447-4b9b-918d-59376d81c5bd"/>
    <ds:schemaRef ds:uri="8be326ae-424e-43e3-89c5-a5a3d72d084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887B703-7211-44F9-B42A-8D6DC9CABD3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352</TotalTime>
  <Words>1219</Words>
  <Application>Microsoft Office PowerPoint</Application>
  <PresentationFormat>와이드스크린</PresentationFormat>
  <Paragraphs>235</Paragraphs>
  <Slides>9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9</vt:i4>
      </vt:variant>
    </vt:vector>
  </HeadingPairs>
  <TitlesOfParts>
    <vt:vector size="21" baseType="lpstr">
      <vt:lpstr>NEXON Lv1 Gothic OTF Bold</vt:lpstr>
      <vt:lpstr>Pretendard</vt:lpstr>
      <vt:lpstr>Pretendard ExtraBold</vt:lpstr>
      <vt:lpstr>Pretendard Medium</vt:lpstr>
      <vt:lpstr>Pretendard SemiBold</vt:lpstr>
      <vt:lpstr>맑은 고딕</vt:lpstr>
      <vt:lpstr>Aptos</vt:lpstr>
      <vt:lpstr>Aptos Display</vt:lpstr>
      <vt:lpstr>Arial</vt:lpstr>
      <vt:lpstr>Courier New</vt:lpstr>
      <vt:lpstr>1_Office 테마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최보아</dc:creator>
  <cp:lastModifiedBy>강한빛</cp:lastModifiedBy>
  <cp:revision>97</cp:revision>
  <dcterms:created xsi:type="dcterms:W3CDTF">2026-06-05T07:00:40Z</dcterms:created>
  <dcterms:modified xsi:type="dcterms:W3CDTF">2026-08-27T21:28:06Z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0x010100FA2F38F024E27E4882B8488722D0246E</vt:lpwstr>
  </property>
  <property fmtid="{D5CDD505-2E9C-101B-9397-08002B2CF9AE}" pid="3" name="MediaServiceImageTags">
    <vt:lpwstr/>
  </property>
</Properties>
</file>